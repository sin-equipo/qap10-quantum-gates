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Buenas tardes. Somos Sin-equipo y trabajamos el reto de NTT DATA, track A: asignar diez vuelos de conexión a diez puertas. Nuestra pregunta no fue si Qiskit gana, sino qué parte del diseño cuántico importa, y medirlo contra el clásico.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Entre algunos vuelos hay pasajeros que se cambian de uno a otro; si sus puertas quedan lejos, caminan más. El costo es la suma de flujo por distancia, cada par una vez. Los datos son QAP10 de MIPLIB: reconstruimos las matrices del archivo MPS y vimos que las distancias forman una cuadrícula de 3 por 4 puertas. Validamos con los tres controles del reto: 24, 32 y 340. El aeropuerto es una interpretación del benchmark, no datos reales de Lima. Con diez vuelos el clásico revisa todas las asignaciones en unos dos segundos y medio: esa es nuestra referencia.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 Qiskit planteamos el problema como QUBO: un qubit por pareja vuelo-puerta, dieciséis qubits para cuatro vuelos, simulados en Aer sin ruido. Con diez vuelos serían cien qubits y dos a la cien amplitudes, imposible de simular. Por eso el híbrido parte de una asignación válida, libera tres vuelos, y QAOA, con nueve qubits, reparte esas tres puertas teniendo en cuenta los siete vuelos fijos. Si el costo no empeora se acepta; si nos estancamos sacudimos cuatro vuelos para explorar.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QAOA estándar castiga las reglas rotas. Resultado: solo el 3,7 por ciento de las muestras son asignaciones válidas y acierta el óptimo el 0,3 por ciento de las veces. Escoger al azar una asignación válida acierta el 8,3 por ciento. Subir el castigo no lo arregla. Lo que sí funcionó fue cambiar el mezclador: en vez de encender y apagar qubits, solo intercambia las puertas de dos vuelos, y el circuito nunca sale de las asignaciones válidas. Con p igual a tres: cien por ciento válidas y 37 por ciento de acierto, 4,4 veces el azar, en simulación ideal. El precio: unas diez veces más compuertas de dos qubits. Con p igual a dos depende demasiado de la semilla, por eso reportamos p tres.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 cinco semillas y 150 iteraciones, todas las soluciones son válidas y quedan entre 8 y 12 por ciento del óptimo; ninguna llegó a 340. QAOA resuelve bien cada pedazo, casi 9 de cada 10 subproblemas, pero no supera al clásico y tarda 83 segundos contra 0,02. Las diferencias entre métodos caen dentro del ruido entre semillas. Para N=10, la respuesta correcta en producción es clásica.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Verificamos de N uno a diez. El híbrido con QAOA llega al óptimo hasta N seis, queda a menos del 2 por ciento en N siete y ocho, y en N nueve y diez se queda entre 10 y 14 por ciento. N uno y dos son triviales. La enumeración exacta pasa de menos de un milisegundo a 2,6 segundos en N diez. La proyección ingenua a N catorce sería unas 16 horas, pero eso es una extrapolación del conteo de permutaciones, no una medición.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Dos terminales con las mismas diez puertas, mismo inicio y mismos vuelos liberados en cada paso. Miren la curva: el costo actual sube cuando damos una patada, el mejor encontrado nunca sube. Ambas terminan en 374: igual calidad, pero el tiempo medido es casi cero contra 34 segundos. Cada figura es una unidad de flujo del benchmark; las caras son ilustrativas. Pueden intercambiar dos vuelos y el costo se recalcula. En el experimento de QAOA, miren P(óptimo): 0,3 contra 36,8, no el mejor shot.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hay ventaja cuántica, no corrimos hardware real, el ruido no está modelado y el aeropuerto es una interpretación del benchmark. QAOA acierta el 89 por ciento de los subproblemas locales, pero eso no significa que el híbrido sea mejor que el clásico. Operativamente, para N diez la respuesta correcta es un resolutor exacto clásico; el valor de Qiskit aquí es medir qué diseño sirve y construir el banco de pruebas para escalas donde enumerar ya no es posible.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Cada resultado se regenera desde el repositorio con semillas fijas y versiones fijadas, y las pruebas automáticas verifican los costos y las permutaciones. Para la final: vecindarios de cuatro vuelos con 16 qubits, un modelo de ruido, comparar con tabu search y escalar a N mayor o igual a 14. Gracias.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3D4C"/>
        </a:solidFill>
        <a:effectLst/>
      </p:bgPr>
    </p:bg>
    <p:spTree>
      <p:nvGrpSpPr>
        <p:cNvPr id="1" name=""/>
        <p:cNvGrpSpPr/>
        <p:nvPr/>
      </p:nvGrpSpPr>
      <p:grpSpPr/>
      <p:sp>
        <p:nvSpPr>
          <p:cNvPr id="2" name="TextBox 1"/>
          <p:cNvSpPr txBox="1"/>
          <p:nvPr/>
        </p:nvSpPr>
        <p:spPr>
          <a:xfrm>
            <a:off x="822960" y="1371600"/>
            <a:ext cx="10515600" cy="457200"/>
          </a:xfrm>
          <a:prstGeom prst="rect">
            <a:avLst/>
          </a:prstGeom>
          <a:noFill/>
        </p:spPr>
        <p:txBody>
          <a:bodyPr wrap="square" anchor="t" lIns="45720" rIns="45720">
            <a:spAutoFit/>
          </a:bodyPr>
          <a:lstStyle/>
          <a:p>
            <a:pPr algn="l">
              <a:spcAft>
                <a:spcPts val="600"/>
              </a:spcAft>
            </a:pPr>
            <a:r>
              <a:rPr sz="1400" b="1">
                <a:solidFill>
                  <a:srgbClr val="8FD3BF"/>
                </a:solidFill>
                <a:latin typeface="Calibri"/>
              </a:rPr>
              <a:t>QISKIT FALL FEST 2026 · RETO NTT DATA · TRACK A</a:t>
            </a:r>
          </a:p>
        </p:txBody>
      </p:sp>
      <p:sp>
        <p:nvSpPr>
          <p:cNvPr id="3" name="TextBox 2"/>
          <p:cNvSpPr txBox="1"/>
          <p:nvPr/>
        </p:nvSpPr>
        <p:spPr>
          <a:xfrm>
            <a:off x="822960" y="1920240"/>
            <a:ext cx="10515600" cy="1463040"/>
          </a:xfrm>
          <a:prstGeom prst="rect">
            <a:avLst/>
          </a:prstGeom>
          <a:noFill/>
        </p:spPr>
        <p:txBody>
          <a:bodyPr wrap="square" anchor="t" lIns="45720" rIns="45720">
            <a:spAutoFit/>
          </a:bodyPr>
          <a:lstStyle/>
          <a:p>
            <a:pPr algn="l">
              <a:spcAft>
                <a:spcPts val="600"/>
              </a:spcAft>
            </a:pPr>
            <a:r>
              <a:rPr sz="5400" b="1">
                <a:solidFill>
                  <a:srgbClr val="FFFFFF"/>
                </a:solidFill>
                <a:latin typeface="Calibri"/>
              </a:rPr>
              <a:t>Misión conexiones</a:t>
            </a:r>
          </a:p>
        </p:txBody>
      </p:sp>
      <p:sp>
        <p:nvSpPr>
          <p:cNvPr id="4" name="TextBox 3"/>
          <p:cNvSpPr txBox="1"/>
          <p:nvPr/>
        </p:nvSpPr>
        <p:spPr>
          <a:xfrm>
            <a:off x="822960" y="3108960"/>
            <a:ext cx="10515600" cy="1097280"/>
          </a:xfrm>
          <a:prstGeom prst="rect">
            <a:avLst/>
          </a:prstGeom>
          <a:noFill/>
        </p:spPr>
        <p:txBody>
          <a:bodyPr wrap="square" anchor="t" lIns="45720" rIns="45720">
            <a:spAutoFit/>
          </a:bodyPr>
          <a:lstStyle/>
          <a:p>
            <a:pPr algn="l">
              <a:spcAft>
                <a:spcPts val="600"/>
              </a:spcAft>
            </a:pPr>
            <a:r>
              <a:rPr sz="2200" b="0">
                <a:solidFill>
                  <a:srgbClr val="FFFFFF"/>
                </a:solidFill>
                <a:latin typeface="Calibri"/>
              </a:rPr>
              <a:t>Asignar 10 vuelos a 10 puertas con Qiskit: qué parte del diseño cuántico importa, medido contra el baseline clásico</a:t>
            </a:r>
          </a:p>
        </p:txBody>
      </p:sp>
      <p:sp>
        <p:nvSpPr>
          <p:cNvPr id="5" name="TextBox 4"/>
          <p:cNvSpPr txBox="1"/>
          <p:nvPr/>
        </p:nvSpPr>
        <p:spPr>
          <a:xfrm>
            <a:off x="822960" y="4754880"/>
            <a:ext cx="10515600" cy="457200"/>
          </a:xfrm>
          <a:prstGeom prst="rect">
            <a:avLst/>
          </a:prstGeom>
          <a:noFill/>
        </p:spPr>
        <p:txBody>
          <a:bodyPr wrap="square" anchor="t" lIns="45720" rIns="45720">
            <a:spAutoFit/>
          </a:bodyPr>
          <a:lstStyle/>
          <a:p>
            <a:pPr algn="l">
              <a:spcAft>
                <a:spcPts val="600"/>
              </a:spcAft>
            </a:pPr>
            <a:r>
              <a:rPr sz="1800" b="1">
                <a:solidFill>
                  <a:srgbClr val="FFFFFF"/>
                </a:solidFill>
                <a:latin typeface="Calibri"/>
              </a:rPr>
              <a:t>Equipo: Sin-equipo</a:t>
            </a:r>
          </a:p>
        </p:txBody>
      </p:sp>
      <p:sp>
        <p:nvSpPr>
          <p:cNvPr id="6" name="TextBox 5"/>
          <p:cNvSpPr txBox="1"/>
          <p:nvPr/>
        </p:nvSpPr>
        <p:spPr>
          <a:xfrm>
            <a:off x="822960" y="5166360"/>
            <a:ext cx="10515600" cy="457200"/>
          </a:xfrm>
          <a:prstGeom prst="rect">
            <a:avLst/>
          </a:prstGeom>
          <a:noFill/>
        </p:spPr>
        <p:txBody>
          <a:bodyPr wrap="square" anchor="t" lIns="45720" rIns="45720">
            <a:spAutoFit/>
          </a:bodyPr>
          <a:lstStyle/>
          <a:p>
            <a:pPr algn="l">
              <a:spcAft>
                <a:spcPts val="600"/>
              </a:spcAft>
            </a:pPr>
            <a:r>
              <a:rPr sz="1600" b="0">
                <a:solidFill>
                  <a:srgbClr val="C8E6DC"/>
                </a:solidFill>
                <a:latin typeface="Calibri"/>
              </a:rPr>
              <a:t>Integrantes: [COMPLETAR LOS 4 NOMBRES]</a:t>
            </a:r>
          </a:p>
        </p:txBody>
      </p:sp>
      <p:sp>
        <p:nvSpPr>
          <p:cNvPr id="7" name="TextBox 6"/>
          <p:cNvSpPr txBox="1"/>
          <p:nvPr/>
        </p:nvSpPr>
        <p:spPr>
          <a:xfrm>
            <a:off x="822960" y="5760720"/>
            <a:ext cx="10515600" cy="365760"/>
          </a:xfrm>
          <a:prstGeom prst="rect">
            <a:avLst/>
          </a:prstGeom>
          <a:noFill/>
        </p:spPr>
        <p:txBody>
          <a:bodyPr wrap="square" anchor="t" lIns="45720" rIns="45720">
            <a:spAutoFit/>
          </a:bodyPr>
          <a:lstStyle/>
          <a:p>
            <a:pPr algn="l">
              <a:spcAft>
                <a:spcPts val="600"/>
              </a:spcAft>
            </a:pPr>
            <a:r>
              <a:rPr sz="1400" b="0">
                <a:solidFill>
                  <a:srgbClr val="8FD3BF"/>
                </a:solidFill>
                <a:latin typeface="Calibri"/>
              </a:rPr>
              <a:t>github.com/Sin-equipo/qap10-quantum-gates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6F0"/>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1F8A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320040"/>
          </a:xfrm>
          <a:prstGeom prst="rect">
            <a:avLst/>
          </a:prstGeom>
          <a:noFill/>
        </p:spPr>
        <p:txBody>
          <a:bodyPr wrap="square" anchor="t" lIns="45720" rIns="45720">
            <a:spAutoFit/>
          </a:bodyPr>
          <a:lstStyle/>
          <a:p>
            <a:pPr algn="l">
              <a:spcAft>
                <a:spcPts val="600"/>
              </a:spcAft>
            </a:pPr>
            <a:r>
              <a:rPr sz="1200" b="1">
                <a:solidFill>
                  <a:srgbClr val="1F8A70"/>
                </a:solidFill>
                <a:latin typeface="Calibri"/>
              </a:rPr>
              <a:t>PROBLEMA, DATOS Y FACTIBILIDAD</a:t>
            </a:r>
          </a:p>
        </p:txBody>
      </p:sp>
      <p:sp>
        <p:nvSpPr>
          <p:cNvPr id="4" name="TextBox 3"/>
          <p:cNvSpPr txBox="1"/>
          <p:nvPr/>
        </p:nvSpPr>
        <p:spPr>
          <a:xfrm>
            <a:off x="548640" y="594360"/>
            <a:ext cx="11155680" cy="822960"/>
          </a:xfrm>
          <a:prstGeom prst="rect">
            <a:avLst/>
          </a:prstGeom>
          <a:noFill/>
        </p:spPr>
        <p:txBody>
          <a:bodyPr wrap="square" anchor="t" lIns="45720" rIns="45720">
            <a:spAutoFit/>
          </a:bodyPr>
          <a:lstStyle/>
          <a:p>
            <a:pPr algn="l">
              <a:spcAft>
                <a:spcPts val="600"/>
              </a:spcAft>
            </a:pPr>
            <a:r>
              <a:rPr sz="3000" b="1">
                <a:solidFill>
                  <a:srgbClr val="0F3D4C"/>
                </a:solidFill>
                <a:latin typeface="Calibri"/>
              </a:rPr>
              <a:t>Diez vuelos, diez puertas: 3,6 millones de asignaciones</a:t>
            </a:r>
          </a:p>
        </p:txBody>
      </p:sp>
      <p:sp>
        <p:nvSpPr>
          <p:cNvPr id="5" name="TextBox 4"/>
          <p:cNvSpPr txBox="1"/>
          <p:nvPr/>
        </p:nvSpPr>
        <p:spPr>
          <a:xfrm>
            <a:off x="548640" y="6446520"/>
            <a:ext cx="8229600" cy="274320"/>
          </a:xfrm>
          <a:prstGeom prst="rect">
            <a:avLst/>
          </a:prstGeom>
          <a:noFill/>
        </p:spPr>
        <p:txBody>
          <a:bodyPr wrap="square" anchor="t" lIns="45720" rIns="45720">
            <a:spAutoFit/>
          </a:bodyPr>
          <a:lstStyle/>
          <a:p>
            <a:pPr algn="l">
              <a:spcAft>
                <a:spcPts val="600"/>
              </a:spcAft>
            </a:pPr>
            <a:r>
              <a:rPr sz="1000" b="0">
                <a:solidFill>
                  <a:srgbClr val="5B6870"/>
                </a:solidFill>
                <a:latin typeface="Calibri"/>
              </a:rPr>
              <a:t>Sin-equipo · Qiskit Fall Fest 2026 · Reto NTT DATA · Track A</a:t>
            </a:r>
          </a:p>
        </p:txBody>
      </p:sp>
      <p:sp>
        <p:nvSpPr>
          <p:cNvPr id="6" name="TextBox 5"/>
          <p:cNvSpPr txBox="1"/>
          <p:nvPr/>
        </p:nvSpPr>
        <p:spPr>
          <a:xfrm>
            <a:off x="10881360" y="6446520"/>
            <a:ext cx="822960" cy="274320"/>
          </a:xfrm>
          <a:prstGeom prst="rect">
            <a:avLst/>
          </a:prstGeom>
          <a:noFill/>
        </p:spPr>
        <p:txBody>
          <a:bodyPr wrap="square" anchor="t" lIns="45720" rIns="45720">
            <a:spAutoFit/>
          </a:bodyPr>
          <a:lstStyle/>
          <a:p>
            <a:pPr algn="r">
              <a:spcAft>
                <a:spcPts val="600"/>
              </a:spcAft>
            </a:pPr>
            <a:r>
              <a:rPr sz="1000" b="0">
                <a:solidFill>
                  <a:srgbClr val="5B6870"/>
                </a:solidFill>
                <a:latin typeface="Calibri"/>
              </a:rPr>
              <a:t>2/9</a:t>
            </a:r>
          </a:p>
        </p:txBody>
      </p:sp>
      <p:sp>
        <p:nvSpPr>
          <p:cNvPr id="7" name="TextBox 6"/>
          <p:cNvSpPr txBox="1"/>
          <p:nvPr/>
        </p:nvSpPr>
        <p:spPr>
          <a:xfrm>
            <a:off x="548640" y="1554480"/>
            <a:ext cx="6766560" cy="4389120"/>
          </a:xfrm>
          <a:prstGeom prst="rect">
            <a:avLst/>
          </a:prstGeom>
          <a:noFill/>
        </p:spPr>
        <p:txBody>
          <a:bodyPr wrap="square" anchor="t" lIns="45720" rIns="45720">
            <a:spAutoFit/>
          </a:bodyPr>
          <a:lstStyle/>
          <a:p>
            <a:pPr algn="l">
              <a:spcAft>
                <a:spcPts val="600"/>
              </a:spcAft>
            </a:pPr>
            <a:r>
              <a:rPr sz="1700" b="0">
                <a:solidFill>
                  <a:srgbClr val="1F2A30"/>
                </a:solidFill>
                <a:latin typeface="Calibri"/>
              </a:rPr>
              <a:t>•  Costo C = Σ F(i,k) · D(puerta i, puerta k), cada par de vuelos una sola vez</a:t>
            </a:r>
          </a:p>
          <a:p>
            <a:pPr algn="l">
              <a:spcAft>
                <a:spcPts val="600"/>
              </a:spcAft>
            </a:pPr>
            <a:r>
              <a:rPr sz="1700" b="0">
                <a:solidFill>
                  <a:srgbClr val="1F2A30"/>
                </a:solidFill>
                <a:latin typeface="Calibri"/>
              </a:rPr>
              <a:t>•  Datos: QAP10 (MIPLIB). F y D se reconstruyeron del MPS; D es una cuadrícula 3×4 con distancia Manhattan ×2</a:t>
            </a:r>
          </a:p>
          <a:p>
            <a:pPr algn="l">
              <a:spcAft>
                <a:spcPts val="600"/>
              </a:spcAft>
            </a:pPr>
            <a:r>
              <a:rPr sz="1700" b="0">
                <a:solidFill>
                  <a:srgbClr val="1F2A30"/>
                </a:solidFill>
                <a:latin typeface="Calibri"/>
              </a:rPr>
              <a:t>•  Controles del reto reproducidos: N=3 → 24, N=4 → 32, N=10 → 340</a:t>
            </a:r>
          </a:p>
          <a:p>
            <a:pPr algn="l">
              <a:spcAft>
                <a:spcPts val="600"/>
              </a:spcAft>
            </a:pPr>
            <a:r>
              <a:rPr sz="1700" b="0">
                <a:solidFill>
                  <a:srgbClr val="1F2A30"/>
                </a:solidFill>
                <a:latin typeface="Calibri"/>
              </a:rPr>
              <a:t>•  10! = 3 628 800 asignaciones; la enumeración exacta da 340 en ≈2,5 s: es la vara de medir</a:t>
            </a:r>
          </a:p>
          <a:p>
            <a:pPr algn="l">
              <a:spcAft>
                <a:spcPts val="600"/>
              </a:spcAft>
            </a:pPr>
            <a:r>
              <a:rPr sz="1700" b="0">
                <a:solidFill>
                  <a:srgbClr val="1F2A30"/>
                </a:solidFill>
                <a:latin typeface="Calibri"/>
              </a:rPr>
              <a:t>•  Una asignación es válida solo si es una permutación; toda solución se verifica antes de reportarla</a:t>
            </a:r>
          </a:p>
        </p:txBody>
      </p:sp>
      <p:sp>
        <p:nvSpPr>
          <p:cNvPr id="8" name="Rounded Rectangle 7"/>
          <p:cNvSpPr/>
          <p:nvPr/>
        </p:nvSpPr>
        <p:spPr>
          <a:xfrm>
            <a:off x="7680960" y="1645920"/>
            <a:ext cx="3931920" cy="1371600"/>
          </a:xfrm>
          <a:prstGeom prst="roundRect">
            <a:avLst>
              <a:gd name="adj" fmla="val 8000"/>
            </a:avLst>
          </a:prstGeom>
          <a:solidFill>
            <a:srgbClr val="E6EE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18120" y="1737360"/>
            <a:ext cx="3657600" cy="365760"/>
          </a:xfrm>
          <a:prstGeom prst="rect">
            <a:avLst/>
          </a:prstGeom>
          <a:noFill/>
        </p:spPr>
        <p:txBody>
          <a:bodyPr wrap="square" anchor="t" lIns="45720" rIns="45720">
            <a:spAutoFit/>
          </a:bodyPr>
          <a:lstStyle/>
          <a:p>
            <a:pPr algn="l">
              <a:spcAft>
                <a:spcPts val="600"/>
              </a:spcAft>
            </a:pPr>
            <a:r>
              <a:rPr sz="1500" b="1">
                <a:solidFill>
                  <a:srgbClr val="0F3D4C"/>
                </a:solidFill>
                <a:latin typeface="Calibri"/>
              </a:rPr>
              <a:t>Controles del reto</a:t>
            </a:r>
          </a:p>
        </p:txBody>
      </p:sp>
      <p:sp>
        <p:nvSpPr>
          <p:cNvPr id="10" name="TextBox 9"/>
          <p:cNvSpPr txBox="1"/>
          <p:nvPr/>
        </p:nvSpPr>
        <p:spPr>
          <a:xfrm>
            <a:off x="7818120" y="2148840"/>
            <a:ext cx="3657600" cy="777240"/>
          </a:xfrm>
          <a:prstGeom prst="rect">
            <a:avLst/>
          </a:prstGeom>
          <a:noFill/>
        </p:spPr>
        <p:txBody>
          <a:bodyPr wrap="square" anchor="t" lIns="45720" rIns="45720">
            <a:spAutoFit/>
          </a:bodyPr>
          <a:lstStyle/>
          <a:p>
            <a:pPr algn="l">
              <a:spcAft>
                <a:spcPts val="600"/>
              </a:spcAft>
            </a:pPr>
            <a:r>
              <a:rPr sz="1300" b="0">
                <a:solidFill>
                  <a:srgbClr val="1F2A30"/>
                </a:solidFill>
                <a:latin typeface="Calibri"/>
              </a:rPr>
              <a:t>N=3 → 24  ✔
N=4 → 32  ✔
N=10 → 340  ✔</a:t>
            </a:r>
          </a:p>
        </p:txBody>
      </p:sp>
      <p:sp>
        <p:nvSpPr>
          <p:cNvPr id="11" name="Rounded Rectangle 10"/>
          <p:cNvSpPr/>
          <p:nvPr/>
        </p:nvSpPr>
        <p:spPr>
          <a:xfrm>
            <a:off x="7680960" y="3200400"/>
            <a:ext cx="3931920" cy="1463040"/>
          </a:xfrm>
          <a:prstGeom prst="roundRect">
            <a:avLst>
              <a:gd name="adj" fmla="val 8000"/>
            </a:avLst>
          </a:prstGeom>
          <a:solidFill>
            <a:srgbClr val="F6E4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20" y="3291840"/>
            <a:ext cx="3657600" cy="365760"/>
          </a:xfrm>
          <a:prstGeom prst="rect">
            <a:avLst/>
          </a:prstGeom>
          <a:noFill/>
        </p:spPr>
        <p:txBody>
          <a:bodyPr wrap="square" anchor="t" lIns="45720" rIns="45720">
            <a:spAutoFit/>
          </a:bodyPr>
          <a:lstStyle/>
          <a:p>
            <a:pPr algn="l">
              <a:spcAft>
                <a:spcPts val="600"/>
              </a:spcAft>
            </a:pPr>
            <a:r>
              <a:rPr sz="1500" b="1">
                <a:solidFill>
                  <a:srgbClr val="B54A3A"/>
                </a:solidFill>
                <a:latin typeface="Calibri"/>
              </a:rPr>
              <a:t>Aviso de interpretación</a:t>
            </a:r>
          </a:p>
        </p:txBody>
      </p:sp>
      <p:sp>
        <p:nvSpPr>
          <p:cNvPr id="13" name="TextBox 12"/>
          <p:cNvSpPr txBox="1"/>
          <p:nvPr/>
        </p:nvSpPr>
        <p:spPr>
          <a:xfrm>
            <a:off x="7818120" y="3703320"/>
            <a:ext cx="3657600" cy="868680"/>
          </a:xfrm>
          <a:prstGeom prst="rect">
            <a:avLst/>
          </a:prstGeom>
          <a:noFill/>
        </p:spPr>
        <p:txBody>
          <a:bodyPr wrap="square" anchor="t" lIns="45720" rIns="45720">
            <a:spAutoFit/>
          </a:bodyPr>
          <a:lstStyle/>
          <a:p>
            <a:pPr algn="l">
              <a:spcAft>
                <a:spcPts val="600"/>
              </a:spcAft>
            </a:pPr>
            <a:r>
              <a:rPr sz="1300" b="0">
                <a:solidFill>
                  <a:srgbClr val="1F2A30"/>
                </a:solidFill>
                <a:latin typeface="Calibri"/>
              </a:rPr>
              <a:t>Los flujos y distancias son del benchmark. No son pasajeros ni metros reales de un aeropuerto.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6F0"/>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1F8A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320040"/>
          </a:xfrm>
          <a:prstGeom prst="rect">
            <a:avLst/>
          </a:prstGeom>
          <a:noFill/>
        </p:spPr>
        <p:txBody>
          <a:bodyPr wrap="square" anchor="t" lIns="45720" rIns="45720">
            <a:spAutoFit/>
          </a:bodyPr>
          <a:lstStyle/>
          <a:p>
            <a:pPr algn="l">
              <a:spcAft>
                <a:spcPts val="600"/>
              </a:spcAft>
            </a:pPr>
            <a:r>
              <a:rPr sz="1200" b="1">
                <a:solidFill>
                  <a:srgbClr val="1F8A70"/>
                </a:solidFill>
                <a:latin typeface="Calibri"/>
              </a:rPr>
              <a:t>USO DE QISKIT Y ARQUITECTURA</a:t>
            </a:r>
          </a:p>
        </p:txBody>
      </p:sp>
      <p:sp>
        <p:nvSpPr>
          <p:cNvPr id="4" name="TextBox 3"/>
          <p:cNvSpPr txBox="1"/>
          <p:nvPr/>
        </p:nvSpPr>
        <p:spPr>
          <a:xfrm>
            <a:off x="548640" y="594360"/>
            <a:ext cx="11155680" cy="822960"/>
          </a:xfrm>
          <a:prstGeom prst="rect">
            <a:avLst/>
          </a:prstGeom>
          <a:noFill/>
        </p:spPr>
        <p:txBody>
          <a:bodyPr wrap="square" anchor="t" lIns="45720" rIns="45720">
            <a:spAutoFit/>
          </a:bodyPr>
          <a:lstStyle/>
          <a:p>
            <a:pPr algn="l">
              <a:spcAft>
                <a:spcPts val="600"/>
              </a:spcAft>
            </a:pPr>
            <a:r>
              <a:rPr sz="3000" b="1">
                <a:solidFill>
                  <a:srgbClr val="0F3D4C"/>
                </a:solidFill>
                <a:latin typeface="Calibri"/>
              </a:rPr>
              <a:t>Arquitectura: Qiskit resuelve, el clásico organiza y verifica</a:t>
            </a:r>
          </a:p>
        </p:txBody>
      </p:sp>
      <p:sp>
        <p:nvSpPr>
          <p:cNvPr id="5" name="TextBox 4"/>
          <p:cNvSpPr txBox="1"/>
          <p:nvPr/>
        </p:nvSpPr>
        <p:spPr>
          <a:xfrm>
            <a:off x="548640" y="6446520"/>
            <a:ext cx="8229600" cy="274320"/>
          </a:xfrm>
          <a:prstGeom prst="rect">
            <a:avLst/>
          </a:prstGeom>
          <a:noFill/>
        </p:spPr>
        <p:txBody>
          <a:bodyPr wrap="square" anchor="t" lIns="45720" rIns="45720">
            <a:spAutoFit/>
          </a:bodyPr>
          <a:lstStyle/>
          <a:p>
            <a:pPr algn="l">
              <a:spcAft>
                <a:spcPts val="600"/>
              </a:spcAft>
            </a:pPr>
            <a:r>
              <a:rPr sz="1000" b="0">
                <a:solidFill>
                  <a:srgbClr val="5B6870"/>
                </a:solidFill>
                <a:latin typeface="Calibri"/>
              </a:rPr>
              <a:t>Sin-equipo · Qiskit Fall Fest 2026 · Reto NTT DATA · Track A</a:t>
            </a:r>
          </a:p>
        </p:txBody>
      </p:sp>
      <p:sp>
        <p:nvSpPr>
          <p:cNvPr id="6" name="TextBox 5"/>
          <p:cNvSpPr txBox="1"/>
          <p:nvPr/>
        </p:nvSpPr>
        <p:spPr>
          <a:xfrm>
            <a:off x="10881360" y="6446520"/>
            <a:ext cx="822960" cy="274320"/>
          </a:xfrm>
          <a:prstGeom prst="rect">
            <a:avLst/>
          </a:prstGeom>
          <a:noFill/>
        </p:spPr>
        <p:txBody>
          <a:bodyPr wrap="square" anchor="t" lIns="45720" rIns="45720">
            <a:spAutoFit/>
          </a:bodyPr>
          <a:lstStyle/>
          <a:p>
            <a:pPr algn="r">
              <a:spcAft>
                <a:spcPts val="600"/>
              </a:spcAft>
            </a:pPr>
            <a:r>
              <a:rPr sz="1000" b="0">
                <a:solidFill>
                  <a:srgbClr val="5B6870"/>
                </a:solidFill>
                <a:latin typeface="Calibri"/>
              </a:rPr>
              <a:t>3/9</a:t>
            </a:r>
          </a:p>
        </p:txBody>
      </p:sp>
      <p:sp>
        <p:nvSpPr>
          <p:cNvPr id="7" name="Rounded Rectangle 6"/>
          <p:cNvSpPr/>
          <p:nvPr/>
        </p:nvSpPr>
        <p:spPr>
          <a:xfrm>
            <a:off x="548640" y="1645920"/>
            <a:ext cx="2468880" cy="1737360"/>
          </a:xfrm>
          <a:prstGeom prst="roundRect">
            <a:avLst>
              <a:gd name="adj" fmla="val 8000"/>
            </a:avLst>
          </a:prstGeom>
          <a:solidFill>
            <a:srgbClr val="E6EE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737360"/>
            <a:ext cx="2194560" cy="365760"/>
          </a:xfrm>
          <a:prstGeom prst="rect">
            <a:avLst/>
          </a:prstGeom>
          <a:noFill/>
        </p:spPr>
        <p:txBody>
          <a:bodyPr wrap="square" anchor="t" lIns="45720" rIns="45720">
            <a:spAutoFit/>
          </a:bodyPr>
          <a:lstStyle/>
          <a:p>
            <a:pPr algn="l">
              <a:spcAft>
                <a:spcPts val="600"/>
              </a:spcAft>
            </a:pPr>
            <a:r>
              <a:rPr sz="1500" b="1">
                <a:solidFill>
                  <a:srgbClr val="0F3D4C"/>
                </a:solidFill>
                <a:latin typeface="Calibri"/>
              </a:rPr>
              <a:t>Instancia</a:t>
            </a:r>
          </a:p>
        </p:txBody>
      </p:sp>
      <p:sp>
        <p:nvSpPr>
          <p:cNvPr id="9" name="TextBox 8"/>
          <p:cNvSpPr txBox="1"/>
          <p:nvPr/>
        </p:nvSpPr>
        <p:spPr>
          <a:xfrm>
            <a:off x="685800" y="2148840"/>
            <a:ext cx="2194560" cy="1143000"/>
          </a:xfrm>
          <a:prstGeom prst="rect">
            <a:avLst/>
          </a:prstGeom>
          <a:noFill/>
        </p:spPr>
        <p:txBody>
          <a:bodyPr wrap="square" anchor="t" lIns="45720" rIns="45720">
            <a:spAutoFit/>
          </a:bodyPr>
          <a:lstStyle/>
          <a:p>
            <a:pPr algn="l">
              <a:spcAft>
                <a:spcPts val="600"/>
              </a:spcAft>
            </a:pPr>
            <a:r>
              <a:rPr sz="1300" b="0">
                <a:solidFill>
                  <a:srgbClr val="1F2A30"/>
                </a:solidFill>
                <a:latin typeface="Calibri"/>
              </a:rPr>
              <a:t>QAP10, N vuelos</a:t>
            </a:r>
          </a:p>
        </p:txBody>
      </p:sp>
      <p:sp>
        <p:nvSpPr>
          <p:cNvPr id="10" name="Right Arrow 9"/>
          <p:cNvSpPr/>
          <p:nvPr/>
        </p:nvSpPr>
        <p:spPr>
          <a:xfrm>
            <a:off x="3054096" y="2377440"/>
            <a:ext cx="365760" cy="320040"/>
          </a:xfrm>
          <a:prstGeom prst="rightArrow">
            <a:avLst/>
          </a:prstGeom>
          <a:solidFill>
            <a:srgbClr val="1F8A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383280" y="1645920"/>
            <a:ext cx="2468880" cy="1737360"/>
          </a:xfrm>
          <a:prstGeom prst="roundRect">
            <a:avLst>
              <a:gd name="adj" fmla="val 8000"/>
            </a:avLst>
          </a:prstGeom>
          <a:solidFill>
            <a:srgbClr val="E6EE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20440" y="1737360"/>
            <a:ext cx="2194560" cy="365760"/>
          </a:xfrm>
          <a:prstGeom prst="rect">
            <a:avLst/>
          </a:prstGeom>
          <a:noFill/>
        </p:spPr>
        <p:txBody>
          <a:bodyPr wrap="square" anchor="t" lIns="45720" rIns="45720">
            <a:spAutoFit/>
          </a:bodyPr>
          <a:lstStyle/>
          <a:p>
            <a:pPr algn="l">
              <a:spcAft>
                <a:spcPts val="600"/>
              </a:spcAft>
            </a:pPr>
            <a:r>
              <a:rPr sz="1500" b="1">
                <a:solidFill>
                  <a:srgbClr val="0F3D4C"/>
                </a:solidFill>
                <a:latin typeface="Calibri"/>
              </a:rPr>
              <a:t>QUBO / Ising</a:t>
            </a:r>
          </a:p>
        </p:txBody>
      </p:sp>
      <p:sp>
        <p:nvSpPr>
          <p:cNvPr id="13" name="TextBox 12"/>
          <p:cNvSpPr txBox="1"/>
          <p:nvPr/>
        </p:nvSpPr>
        <p:spPr>
          <a:xfrm>
            <a:off x="3520440" y="2148840"/>
            <a:ext cx="2194560" cy="1143000"/>
          </a:xfrm>
          <a:prstGeom prst="rect">
            <a:avLst/>
          </a:prstGeom>
          <a:noFill/>
        </p:spPr>
        <p:txBody>
          <a:bodyPr wrap="square" anchor="t" lIns="45720" rIns="45720">
            <a:spAutoFit/>
          </a:bodyPr>
          <a:lstStyle/>
          <a:p>
            <a:pPr algn="l">
              <a:spcAft>
                <a:spcPts val="600"/>
              </a:spcAft>
            </a:pPr>
            <a:r>
              <a:rPr sz="1300" b="0">
                <a:solidFill>
                  <a:srgbClr val="1F2A30"/>
                </a:solidFill>
                <a:latin typeface="Calibri"/>
              </a:rPr>
              <a:t>N² qubits
penalización certificada</a:t>
            </a:r>
          </a:p>
        </p:txBody>
      </p:sp>
      <p:sp>
        <p:nvSpPr>
          <p:cNvPr id="14" name="Right Arrow 13"/>
          <p:cNvSpPr/>
          <p:nvPr/>
        </p:nvSpPr>
        <p:spPr>
          <a:xfrm>
            <a:off x="5888736" y="2377440"/>
            <a:ext cx="365760" cy="320040"/>
          </a:xfrm>
          <a:prstGeom prst="rightArrow">
            <a:avLst/>
          </a:prstGeom>
          <a:solidFill>
            <a:srgbClr val="1F8A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17920" y="1645920"/>
            <a:ext cx="2468880" cy="1737360"/>
          </a:xfrm>
          <a:prstGeom prst="roundRect">
            <a:avLst>
              <a:gd name="adj" fmla="val 8000"/>
            </a:avLst>
          </a:prstGeom>
          <a:solidFill>
            <a:srgbClr val="E6EE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55080" y="1737360"/>
            <a:ext cx="2194560" cy="365760"/>
          </a:xfrm>
          <a:prstGeom prst="rect">
            <a:avLst/>
          </a:prstGeom>
          <a:noFill/>
        </p:spPr>
        <p:txBody>
          <a:bodyPr wrap="square" anchor="t" lIns="45720" rIns="45720">
            <a:spAutoFit/>
          </a:bodyPr>
          <a:lstStyle/>
          <a:p>
            <a:pPr algn="l">
              <a:spcAft>
                <a:spcPts val="600"/>
              </a:spcAft>
            </a:pPr>
            <a:r>
              <a:rPr sz="1500" b="1">
                <a:solidFill>
                  <a:srgbClr val="0F3D4C"/>
                </a:solidFill>
                <a:latin typeface="Calibri"/>
              </a:rPr>
              <a:t>QAOA en Qiskit</a:t>
            </a:r>
          </a:p>
        </p:txBody>
      </p:sp>
      <p:sp>
        <p:nvSpPr>
          <p:cNvPr id="17" name="TextBox 16"/>
          <p:cNvSpPr txBox="1"/>
          <p:nvPr/>
        </p:nvSpPr>
        <p:spPr>
          <a:xfrm>
            <a:off x="6355080" y="2148840"/>
            <a:ext cx="2194560" cy="1143000"/>
          </a:xfrm>
          <a:prstGeom prst="rect">
            <a:avLst/>
          </a:prstGeom>
          <a:noFill/>
        </p:spPr>
        <p:txBody>
          <a:bodyPr wrap="square" anchor="t" lIns="45720" rIns="45720">
            <a:spAutoFit/>
          </a:bodyPr>
          <a:lstStyle/>
          <a:p>
            <a:pPr algn="l">
              <a:spcAft>
                <a:spcPts val="600"/>
              </a:spcAft>
            </a:pPr>
            <a:r>
              <a:rPr sz="1300" b="0">
                <a:solidFill>
                  <a:srgbClr val="1F2A30"/>
                </a:solidFill>
                <a:latin typeface="Calibri"/>
              </a:rPr>
              <a:t>Aer statevector
COBYLA, mezclador X o de intercambio</a:t>
            </a:r>
          </a:p>
        </p:txBody>
      </p:sp>
      <p:sp>
        <p:nvSpPr>
          <p:cNvPr id="18" name="Right Arrow 17"/>
          <p:cNvSpPr/>
          <p:nvPr/>
        </p:nvSpPr>
        <p:spPr>
          <a:xfrm>
            <a:off x="8723376" y="2377440"/>
            <a:ext cx="365760" cy="320040"/>
          </a:xfrm>
          <a:prstGeom prst="rightArrow">
            <a:avLst/>
          </a:prstGeom>
          <a:solidFill>
            <a:srgbClr val="1F8A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052560" y="1645920"/>
            <a:ext cx="2468880" cy="1737360"/>
          </a:xfrm>
          <a:prstGeom prst="roundRect">
            <a:avLst>
              <a:gd name="adj" fmla="val 8000"/>
            </a:avLst>
          </a:prstGeom>
          <a:solidFill>
            <a:srgbClr val="E6EE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89720" y="1737360"/>
            <a:ext cx="2194560" cy="365760"/>
          </a:xfrm>
          <a:prstGeom prst="rect">
            <a:avLst/>
          </a:prstGeom>
          <a:noFill/>
        </p:spPr>
        <p:txBody>
          <a:bodyPr wrap="square" anchor="t" lIns="45720" rIns="45720">
            <a:spAutoFit/>
          </a:bodyPr>
          <a:lstStyle/>
          <a:p>
            <a:pPr algn="l">
              <a:spcAft>
                <a:spcPts val="600"/>
              </a:spcAft>
            </a:pPr>
            <a:r>
              <a:rPr sz="1500" b="1">
                <a:solidFill>
                  <a:srgbClr val="0F3D4C"/>
                </a:solidFill>
                <a:latin typeface="Calibri"/>
              </a:rPr>
              <a:t>Decodificar</a:t>
            </a:r>
          </a:p>
        </p:txBody>
      </p:sp>
      <p:sp>
        <p:nvSpPr>
          <p:cNvPr id="21" name="TextBox 20"/>
          <p:cNvSpPr txBox="1"/>
          <p:nvPr/>
        </p:nvSpPr>
        <p:spPr>
          <a:xfrm>
            <a:off x="9189720" y="2148840"/>
            <a:ext cx="2194560" cy="1143000"/>
          </a:xfrm>
          <a:prstGeom prst="rect">
            <a:avLst/>
          </a:prstGeom>
          <a:noFill/>
        </p:spPr>
        <p:txBody>
          <a:bodyPr wrap="square" anchor="t" lIns="45720" rIns="45720">
            <a:spAutoFit/>
          </a:bodyPr>
          <a:lstStyle/>
          <a:p>
            <a:pPr algn="l">
              <a:spcAft>
                <a:spcPts val="600"/>
              </a:spcAft>
            </a:pPr>
            <a:r>
              <a:rPr sz="1300" b="0">
                <a:solidFill>
                  <a:srgbClr val="1F2A30"/>
                </a:solidFill>
                <a:latin typeface="Calibri"/>
              </a:rPr>
              <a:t>¿permutación válida?
costo recalculado</a:t>
            </a:r>
          </a:p>
        </p:txBody>
      </p:sp>
      <p:sp>
        <p:nvSpPr>
          <p:cNvPr id="22" name="Rounded Rectangle 21"/>
          <p:cNvSpPr/>
          <p:nvPr/>
        </p:nvSpPr>
        <p:spPr>
          <a:xfrm>
            <a:off x="548640" y="3657600"/>
            <a:ext cx="11064240" cy="2194560"/>
          </a:xfrm>
          <a:prstGeom prst="roundRect">
            <a:avLst>
              <a:gd name="adj" fmla="val 8000"/>
            </a:avLst>
          </a:prstGeom>
          <a:solidFill>
            <a:srgbClr val="E6EE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3749039"/>
            <a:ext cx="10789919" cy="365760"/>
          </a:xfrm>
          <a:prstGeom prst="rect">
            <a:avLst/>
          </a:prstGeom>
          <a:noFill/>
        </p:spPr>
        <p:txBody>
          <a:bodyPr wrap="square" anchor="t" lIns="45720" rIns="45720">
            <a:spAutoFit/>
          </a:bodyPr>
          <a:lstStyle/>
          <a:p>
            <a:pPr algn="l">
              <a:spcAft>
                <a:spcPts val="600"/>
              </a:spcAft>
            </a:pPr>
            <a:r>
              <a:rPr sz="1500" b="1">
                <a:solidFill>
                  <a:srgbClr val="0F3D4C"/>
                </a:solidFill>
                <a:latin typeface="Calibri"/>
              </a:rPr>
              <a:t>A escala N=10: búsqueda por vecindarios (LNS) con QAOA como subsolver</a:t>
            </a:r>
          </a:p>
        </p:txBody>
      </p:sp>
      <p:sp>
        <p:nvSpPr>
          <p:cNvPr id="24" name="TextBox 23"/>
          <p:cNvSpPr txBox="1"/>
          <p:nvPr/>
        </p:nvSpPr>
        <p:spPr>
          <a:xfrm>
            <a:off x="685800" y="4160520"/>
            <a:ext cx="10789919" cy="1600200"/>
          </a:xfrm>
          <a:prstGeom prst="rect">
            <a:avLst/>
          </a:prstGeom>
          <a:noFill/>
        </p:spPr>
        <p:txBody>
          <a:bodyPr wrap="square" anchor="t" lIns="45720" rIns="45720">
            <a:spAutoFit/>
          </a:bodyPr>
          <a:lstStyle/>
          <a:p>
            <a:pPr algn="l">
              <a:spcAft>
                <a:spcPts val="600"/>
              </a:spcAft>
            </a:pPr>
            <a:r>
              <a:rPr sz="1300" b="0">
                <a:solidFill>
                  <a:srgbClr val="1F2A30"/>
                </a:solidFill>
                <a:latin typeface="Calibri"/>
              </a:rPr>
              <a:t>1. Se parte de una asignación válida.   2. Se liberan K=3 vuelos: subproblema de 9 qubits con un término lineal por los 7 vuelos fijos.
3. QAOA con mezclador de intercambio propone una reasignación.   4. Se acepta si el costo no empeora; tras 12 iteraciones sin mejora, patada de 4 vuelos.
Controles con los mismos vecindarios y semillas: subsolver exacto local, subsolver aleatorio, heurística SciPy FAQ y enumeración exacta.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6F0"/>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1F8A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320040"/>
          </a:xfrm>
          <a:prstGeom prst="rect">
            <a:avLst/>
          </a:prstGeom>
          <a:noFill/>
        </p:spPr>
        <p:txBody>
          <a:bodyPr wrap="square" anchor="t" lIns="45720" rIns="45720">
            <a:spAutoFit/>
          </a:bodyPr>
          <a:lstStyle/>
          <a:p>
            <a:pPr algn="l">
              <a:spcAft>
                <a:spcPts val="600"/>
              </a:spcAft>
            </a:pPr>
            <a:r>
              <a:rPr sz="1200" b="1">
                <a:solidFill>
                  <a:srgbClr val="1F8A70"/>
                </a:solidFill>
                <a:latin typeface="Calibri"/>
              </a:rPr>
              <a:t>RESULTADO 1 · QAOA DIRECTO, N=4 (16 QUBITS)</a:t>
            </a:r>
          </a:p>
        </p:txBody>
      </p:sp>
      <p:sp>
        <p:nvSpPr>
          <p:cNvPr id="4" name="TextBox 3"/>
          <p:cNvSpPr txBox="1"/>
          <p:nvPr/>
        </p:nvSpPr>
        <p:spPr>
          <a:xfrm>
            <a:off x="548640" y="594360"/>
            <a:ext cx="11155680" cy="822960"/>
          </a:xfrm>
          <a:prstGeom prst="rect">
            <a:avLst/>
          </a:prstGeom>
          <a:noFill/>
        </p:spPr>
        <p:txBody>
          <a:bodyPr wrap="square" anchor="t" lIns="45720" rIns="45720">
            <a:spAutoFit/>
          </a:bodyPr>
          <a:lstStyle/>
          <a:p>
            <a:pPr algn="l">
              <a:spcAft>
                <a:spcPts val="600"/>
              </a:spcAft>
            </a:pPr>
            <a:r>
              <a:rPr sz="3000" b="1">
                <a:solidFill>
                  <a:srgbClr val="0F3D4C"/>
                </a:solidFill>
                <a:latin typeface="Calibri"/>
              </a:rPr>
              <a:t>El mezclador importa más que el castigo</a:t>
            </a:r>
          </a:p>
        </p:txBody>
      </p:sp>
      <p:sp>
        <p:nvSpPr>
          <p:cNvPr id="5" name="TextBox 4"/>
          <p:cNvSpPr txBox="1"/>
          <p:nvPr/>
        </p:nvSpPr>
        <p:spPr>
          <a:xfrm>
            <a:off x="548640" y="6446520"/>
            <a:ext cx="8229600" cy="274320"/>
          </a:xfrm>
          <a:prstGeom prst="rect">
            <a:avLst/>
          </a:prstGeom>
          <a:noFill/>
        </p:spPr>
        <p:txBody>
          <a:bodyPr wrap="square" anchor="t" lIns="45720" rIns="45720">
            <a:spAutoFit/>
          </a:bodyPr>
          <a:lstStyle/>
          <a:p>
            <a:pPr algn="l">
              <a:spcAft>
                <a:spcPts val="600"/>
              </a:spcAft>
            </a:pPr>
            <a:r>
              <a:rPr sz="1000" b="0">
                <a:solidFill>
                  <a:srgbClr val="5B6870"/>
                </a:solidFill>
                <a:latin typeface="Calibri"/>
              </a:rPr>
              <a:t>Sin-equipo · Qiskit Fall Fest 2026 · Reto NTT DATA · Track A</a:t>
            </a:r>
          </a:p>
        </p:txBody>
      </p:sp>
      <p:sp>
        <p:nvSpPr>
          <p:cNvPr id="6" name="TextBox 5"/>
          <p:cNvSpPr txBox="1"/>
          <p:nvPr/>
        </p:nvSpPr>
        <p:spPr>
          <a:xfrm>
            <a:off x="10881360" y="6446520"/>
            <a:ext cx="822960" cy="274320"/>
          </a:xfrm>
          <a:prstGeom prst="rect">
            <a:avLst/>
          </a:prstGeom>
          <a:noFill/>
        </p:spPr>
        <p:txBody>
          <a:bodyPr wrap="square" anchor="t" lIns="45720" rIns="45720">
            <a:spAutoFit/>
          </a:bodyPr>
          <a:lstStyle/>
          <a:p>
            <a:pPr algn="r">
              <a:spcAft>
                <a:spcPts val="600"/>
              </a:spcAft>
            </a:pPr>
            <a:r>
              <a:rPr sz="1000" b="0">
                <a:solidFill>
                  <a:srgbClr val="5B6870"/>
                </a:solidFill>
                <a:latin typeface="Calibri"/>
              </a:rPr>
              <a:t>4/9</a:t>
            </a:r>
          </a:p>
        </p:txBody>
      </p:sp>
      <p:pic>
        <p:nvPicPr>
          <p:cNvPr id="7" name="Picture 6" descr="qaoa_n4.png"/>
          <p:cNvPicPr>
            <a:picLocks noChangeAspect="1"/>
          </p:cNvPicPr>
          <p:nvPr/>
        </p:nvPicPr>
        <p:blipFill>
          <a:blip r:embed="rId3"/>
          <a:stretch>
            <a:fillRect/>
          </a:stretch>
        </p:blipFill>
        <p:spPr>
          <a:xfrm>
            <a:off x="457200" y="2683764"/>
            <a:ext cx="6035040" cy="2313432"/>
          </a:xfrm>
          <a:prstGeom prst="rect">
            <a:avLst/>
          </a:prstGeom>
        </p:spPr>
      </p:pic>
      <p:graphicFrame>
        <p:nvGraphicFramePr>
          <p:cNvPr id="8" name="Table 7"/>
          <p:cNvGraphicFramePr>
            <a:graphicFrameLocks noGrp="1"/>
          </p:cNvGraphicFramePr>
          <p:nvPr/>
        </p:nvGraphicFramePr>
        <p:xfrm>
          <a:off x="6766560" y="1645920"/>
          <a:ext cx="4937760" cy="1536192"/>
        </p:xfrm>
        <a:graphic>
          <a:graphicData uri="http://schemas.openxmlformats.org/drawingml/2006/table">
            <a:tbl>
              <a:tblPr firstRow="1" bandRow="1">
                <a:tableStyleId>{5C22544A-7EE6-4342-B048-85BDC9FD1C3A}</a:tableStyleId>
              </a:tblPr>
              <a:tblGrid>
                <a:gridCol w="2377440"/>
                <a:gridCol w="1280160"/>
                <a:gridCol w="1280160"/>
              </a:tblGrid>
              <a:tr h="384048">
                <a:tc>
                  <a:txBody>
                    <a:bodyPr/>
                    <a:lstStyle/>
                    <a:p>
                      <a:pPr algn="l"/>
                      <a:r>
                        <a:rPr sz="1400" b="1">
                          <a:solidFill>
                            <a:srgbClr val="FFFFFF"/>
                          </a:solidFill>
                          <a:latin typeface="Calibri"/>
                        </a:rPr>
                        <a:t>N=4, p=3, 5 semillas</a:t>
                      </a:r>
                    </a:p>
                  </a:txBody>
                  <a:tcPr anchor="ctr">
                    <a:solidFill>
                      <a:srgbClr val="0F3D4C"/>
                    </a:solidFill>
                  </a:tcPr>
                </a:tc>
                <a:tc>
                  <a:txBody>
                    <a:bodyPr/>
                    <a:lstStyle/>
                    <a:p>
                      <a:pPr algn="ctr"/>
                      <a:r>
                        <a:rPr sz="1400" b="1">
                          <a:solidFill>
                            <a:srgbClr val="FFFFFF"/>
                          </a:solidFill>
                          <a:latin typeface="Calibri"/>
                        </a:rPr>
                        <a:t>P(óptimo)</a:t>
                      </a:r>
                    </a:p>
                  </a:txBody>
                  <a:tcPr anchor="ctr">
                    <a:solidFill>
                      <a:srgbClr val="0F3D4C"/>
                    </a:solidFill>
                  </a:tcPr>
                </a:tc>
                <a:tc>
                  <a:txBody>
                    <a:bodyPr/>
                    <a:lstStyle/>
                    <a:p>
                      <a:pPr algn="ctr"/>
                      <a:r>
                        <a:rPr sz="1400" b="1">
                          <a:solidFill>
                            <a:srgbClr val="FFFFFF"/>
                          </a:solidFill>
                          <a:latin typeface="Calibri"/>
                        </a:rPr>
                        <a:t>Válidas</a:t>
                      </a:r>
                    </a:p>
                  </a:txBody>
                  <a:tcPr anchor="ctr">
                    <a:solidFill>
                      <a:srgbClr val="0F3D4C"/>
                    </a:solidFill>
                  </a:tcPr>
                </a:tc>
              </a:tr>
              <a:tr h="384048">
                <a:tc>
                  <a:txBody>
                    <a:bodyPr/>
                    <a:lstStyle/>
                    <a:p>
                      <a:pPr algn="l"/>
                      <a:r>
                        <a:rPr sz="1400" b="0">
                          <a:solidFill>
                            <a:srgbClr val="1F2A30"/>
                          </a:solidFill>
                          <a:latin typeface="Calibri"/>
                        </a:rPr>
                        <a:t>Penalización (X)</a:t>
                      </a:r>
                    </a:p>
                  </a:txBody>
                  <a:tcPr anchor="ctr">
                    <a:solidFill>
                      <a:srgbClr val="FFFFFF"/>
                    </a:solidFill>
                  </a:tcPr>
                </a:tc>
                <a:tc>
                  <a:txBody>
                    <a:bodyPr/>
                    <a:lstStyle/>
                    <a:p>
                      <a:pPr algn="ctr"/>
                      <a:r>
                        <a:rPr sz="1400" b="0">
                          <a:solidFill>
                            <a:srgbClr val="1F2A30"/>
                          </a:solidFill>
                          <a:latin typeface="Calibri"/>
                        </a:rPr>
                        <a:t>0,3 %</a:t>
                      </a:r>
                    </a:p>
                  </a:txBody>
                  <a:tcPr anchor="ctr">
                    <a:solidFill>
                      <a:srgbClr val="FFFFFF"/>
                    </a:solidFill>
                  </a:tcPr>
                </a:tc>
                <a:tc>
                  <a:txBody>
                    <a:bodyPr/>
                    <a:lstStyle/>
                    <a:p>
                      <a:pPr algn="ctr"/>
                      <a:r>
                        <a:rPr sz="1400" b="0">
                          <a:solidFill>
                            <a:srgbClr val="1F2A30"/>
                          </a:solidFill>
                          <a:latin typeface="Calibri"/>
                        </a:rPr>
                        <a:t>3,7 %</a:t>
                      </a:r>
                    </a:p>
                  </a:txBody>
                  <a:tcPr anchor="ctr">
                    <a:solidFill>
                      <a:srgbClr val="FFFFFF"/>
                    </a:solidFill>
                  </a:tcPr>
                </a:tc>
              </a:tr>
              <a:tr h="384048">
                <a:tc>
                  <a:txBody>
                    <a:bodyPr/>
                    <a:lstStyle/>
                    <a:p>
                      <a:pPr algn="l"/>
                      <a:r>
                        <a:rPr sz="1400" b="1">
                          <a:solidFill>
                            <a:srgbClr val="1F2A30"/>
                          </a:solidFill>
                          <a:latin typeface="Calibri"/>
                        </a:rPr>
                        <a:t>Intercambio</a:t>
                      </a:r>
                    </a:p>
                  </a:txBody>
                  <a:tcPr anchor="ctr">
                    <a:solidFill>
                      <a:srgbClr val="E6EEE9"/>
                    </a:solidFill>
                  </a:tcPr>
                </a:tc>
                <a:tc>
                  <a:txBody>
                    <a:bodyPr/>
                    <a:lstStyle/>
                    <a:p>
                      <a:pPr algn="ctr"/>
                      <a:r>
                        <a:rPr sz="1400" b="1">
                          <a:solidFill>
                            <a:srgbClr val="1F2A30"/>
                          </a:solidFill>
                          <a:latin typeface="Calibri"/>
                        </a:rPr>
                        <a:t>36,8 %</a:t>
                      </a:r>
                    </a:p>
                  </a:txBody>
                  <a:tcPr anchor="ctr">
                    <a:solidFill>
                      <a:srgbClr val="E6EEE9"/>
                    </a:solidFill>
                  </a:tcPr>
                </a:tc>
                <a:tc>
                  <a:txBody>
                    <a:bodyPr/>
                    <a:lstStyle/>
                    <a:p>
                      <a:pPr algn="ctr"/>
                      <a:r>
                        <a:rPr sz="1400" b="1">
                          <a:solidFill>
                            <a:srgbClr val="1F2A30"/>
                          </a:solidFill>
                          <a:latin typeface="Calibri"/>
                        </a:rPr>
                        <a:t>100 %</a:t>
                      </a:r>
                    </a:p>
                  </a:txBody>
                  <a:tcPr anchor="ctr">
                    <a:solidFill>
                      <a:srgbClr val="E6EEE9"/>
                    </a:solidFill>
                  </a:tcPr>
                </a:tc>
              </a:tr>
              <a:tr h="384048">
                <a:tc>
                  <a:txBody>
                    <a:bodyPr/>
                    <a:lstStyle/>
                    <a:p>
                      <a:pPr algn="l"/>
                      <a:r>
                        <a:rPr sz="1400" b="0">
                          <a:solidFill>
                            <a:srgbClr val="1F2A30"/>
                          </a:solidFill>
                          <a:latin typeface="Calibri"/>
                        </a:rPr>
                        <a:t>Azar (permutación válida)</a:t>
                      </a:r>
                    </a:p>
                  </a:txBody>
                  <a:tcPr anchor="ctr">
                    <a:solidFill>
                      <a:srgbClr val="FFFFFF"/>
                    </a:solidFill>
                  </a:tcPr>
                </a:tc>
                <a:tc>
                  <a:txBody>
                    <a:bodyPr/>
                    <a:lstStyle/>
                    <a:p>
                      <a:pPr algn="ctr"/>
                      <a:r>
                        <a:rPr sz="1400" b="0">
                          <a:solidFill>
                            <a:srgbClr val="1F2A30"/>
                          </a:solidFill>
                          <a:latin typeface="Calibri"/>
                        </a:rPr>
                        <a:t>8,3 %</a:t>
                      </a:r>
                    </a:p>
                  </a:txBody>
                  <a:tcPr anchor="ctr">
                    <a:solidFill>
                      <a:srgbClr val="FFFFFF"/>
                    </a:solidFill>
                  </a:tcPr>
                </a:tc>
                <a:tc>
                  <a:txBody>
                    <a:bodyPr/>
                    <a:lstStyle/>
                    <a:p>
                      <a:pPr algn="ctr"/>
                      <a:r>
                        <a:rPr sz="1400" b="0">
                          <a:solidFill>
                            <a:srgbClr val="1F2A30"/>
                          </a:solidFill>
                          <a:latin typeface="Calibri"/>
                        </a:rPr>
                        <a:t>100 %</a:t>
                      </a:r>
                    </a:p>
                  </a:txBody>
                  <a:tcPr anchor="ctr">
                    <a:solidFill>
                      <a:srgbClr val="FFFFFF"/>
                    </a:solidFill>
                  </a:tcPr>
                </a:tc>
              </a:tr>
            </a:tbl>
          </a:graphicData>
        </a:graphic>
      </p:graphicFrame>
      <p:sp>
        <p:nvSpPr>
          <p:cNvPr id="9" name="TextBox 8"/>
          <p:cNvSpPr txBox="1"/>
          <p:nvPr/>
        </p:nvSpPr>
        <p:spPr>
          <a:xfrm>
            <a:off x="6766560" y="3474720"/>
            <a:ext cx="4937760" cy="2834640"/>
          </a:xfrm>
          <a:prstGeom prst="rect">
            <a:avLst/>
          </a:prstGeom>
          <a:noFill/>
        </p:spPr>
        <p:txBody>
          <a:bodyPr wrap="square" anchor="t" lIns="45720" rIns="45720">
            <a:spAutoFit/>
          </a:bodyPr>
          <a:lstStyle/>
          <a:p>
            <a:pPr algn="l">
              <a:spcAft>
                <a:spcPts val="600"/>
              </a:spcAft>
            </a:pPr>
            <a:r>
              <a:rPr sz="1500" b="0">
                <a:solidFill>
                  <a:srgbClr val="1F2A30"/>
                </a:solidFill>
                <a:latin typeface="Calibri"/>
              </a:rPr>
              <a:t>•  Intercambio: 4,4× el azar; las 5 semillas superan al azar</a:t>
            </a:r>
          </a:p>
          <a:p>
            <a:pPr algn="l">
              <a:spcAft>
                <a:spcPts val="600"/>
              </a:spcAft>
            </a:pPr>
            <a:r>
              <a:rPr sz="1500" b="0">
                <a:solidFill>
                  <a:srgbClr val="1F2A30"/>
                </a:solidFill>
                <a:latin typeface="Calibri"/>
              </a:rPr>
              <a:t>•  X no supera al azar con ningún λ, p ni CVaR probados</a:t>
            </a:r>
          </a:p>
          <a:p>
            <a:pPr algn="l">
              <a:spcAft>
                <a:spcPts val="600"/>
              </a:spcAft>
            </a:pPr>
            <a:r>
              <a:rPr sz="1500" b="0">
                <a:solidFill>
                  <a:srgbClr val="1F2A30"/>
                </a:solidFill>
                <a:latin typeface="Calibri"/>
              </a:rPr>
              <a:t>•  Costo: ≈10× más compuertas de 2 qubits (transpilado)</a:t>
            </a:r>
          </a:p>
          <a:p>
            <a:pPr algn="l">
              <a:spcAft>
                <a:spcPts val="600"/>
              </a:spcAft>
            </a:pPr>
            <a:r>
              <a:rPr sz="1500" b="0">
                <a:solidFill>
                  <a:srgbClr val="1F2A30"/>
                </a:solidFill>
                <a:latin typeface="Calibri"/>
              </a:rPr>
              <a:t>•  Simulación ideal; sin ruido ni hardware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6F0"/>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1F8A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320040"/>
          </a:xfrm>
          <a:prstGeom prst="rect">
            <a:avLst/>
          </a:prstGeom>
          <a:noFill/>
        </p:spPr>
        <p:txBody>
          <a:bodyPr wrap="square" anchor="t" lIns="45720" rIns="45720">
            <a:spAutoFit/>
          </a:bodyPr>
          <a:lstStyle/>
          <a:p>
            <a:pPr algn="l">
              <a:spcAft>
                <a:spcPts val="600"/>
              </a:spcAft>
            </a:pPr>
            <a:r>
              <a:rPr sz="1200" b="1">
                <a:solidFill>
                  <a:srgbClr val="1F8A70"/>
                </a:solidFill>
                <a:latin typeface="Calibri"/>
              </a:rPr>
              <a:t>RESULTADO 2 · HÍBRIDO LNS + QAOA, N=10</a:t>
            </a:r>
          </a:p>
        </p:txBody>
      </p:sp>
      <p:sp>
        <p:nvSpPr>
          <p:cNvPr id="4" name="TextBox 3"/>
          <p:cNvSpPr txBox="1"/>
          <p:nvPr/>
        </p:nvSpPr>
        <p:spPr>
          <a:xfrm>
            <a:off x="548640" y="594360"/>
            <a:ext cx="11155680" cy="822960"/>
          </a:xfrm>
          <a:prstGeom prst="rect">
            <a:avLst/>
          </a:prstGeom>
          <a:noFill/>
        </p:spPr>
        <p:txBody>
          <a:bodyPr wrap="square" anchor="t" lIns="45720" rIns="45720">
            <a:spAutoFit/>
          </a:bodyPr>
          <a:lstStyle/>
          <a:p>
            <a:pPr algn="l">
              <a:spcAft>
                <a:spcPts val="600"/>
              </a:spcAft>
            </a:pPr>
            <a:r>
              <a:rPr sz="3000" b="1">
                <a:solidFill>
                  <a:srgbClr val="0F3D4C"/>
                </a:solidFill>
                <a:latin typeface="Calibri"/>
              </a:rPr>
              <a:t>N=10: válidas y a ≈10 % del óptimo, sin superar al clásico</a:t>
            </a:r>
          </a:p>
        </p:txBody>
      </p:sp>
      <p:sp>
        <p:nvSpPr>
          <p:cNvPr id="5" name="TextBox 4"/>
          <p:cNvSpPr txBox="1"/>
          <p:nvPr/>
        </p:nvSpPr>
        <p:spPr>
          <a:xfrm>
            <a:off x="548640" y="6446520"/>
            <a:ext cx="8229600" cy="274320"/>
          </a:xfrm>
          <a:prstGeom prst="rect">
            <a:avLst/>
          </a:prstGeom>
          <a:noFill/>
        </p:spPr>
        <p:txBody>
          <a:bodyPr wrap="square" anchor="t" lIns="45720" rIns="45720">
            <a:spAutoFit/>
          </a:bodyPr>
          <a:lstStyle/>
          <a:p>
            <a:pPr algn="l">
              <a:spcAft>
                <a:spcPts val="600"/>
              </a:spcAft>
            </a:pPr>
            <a:r>
              <a:rPr sz="1000" b="0">
                <a:solidFill>
                  <a:srgbClr val="5B6870"/>
                </a:solidFill>
                <a:latin typeface="Calibri"/>
              </a:rPr>
              <a:t>Sin-equipo · Qiskit Fall Fest 2026 · Reto NTT DATA · Track A</a:t>
            </a:r>
          </a:p>
        </p:txBody>
      </p:sp>
      <p:sp>
        <p:nvSpPr>
          <p:cNvPr id="6" name="TextBox 5"/>
          <p:cNvSpPr txBox="1"/>
          <p:nvPr/>
        </p:nvSpPr>
        <p:spPr>
          <a:xfrm>
            <a:off x="10881360" y="6446520"/>
            <a:ext cx="822960" cy="274320"/>
          </a:xfrm>
          <a:prstGeom prst="rect">
            <a:avLst/>
          </a:prstGeom>
          <a:noFill/>
        </p:spPr>
        <p:txBody>
          <a:bodyPr wrap="square" anchor="t" lIns="45720" rIns="45720">
            <a:spAutoFit/>
          </a:bodyPr>
          <a:lstStyle/>
          <a:p>
            <a:pPr algn="r">
              <a:spcAft>
                <a:spcPts val="600"/>
              </a:spcAft>
            </a:pPr>
            <a:r>
              <a:rPr sz="1000" b="0">
                <a:solidFill>
                  <a:srgbClr val="5B6870"/>
                </a:solidFill>
                <a:latin typeface="Calibri"/>
              </a:rPr>
              <a:t>5/9</a:t>
            </a:r>
          </a:p>
        </p:txBody>
      </p:sp>
      <p:graphicFrame>
        <p:nvGraphicFramePr>
          <p:cNvPr id="7" name="Table 6"/>
          <p:cNvGraphicFramePr>
            <a:graphicFrameLocks noGrp="1"/>
          </p:cNvGraphicFramePr>
          <p:nvPr/>
        </p:nvGraphicFramePr>
        <p:xfrm>
          <a:off x="548640" y="1554480"/>
          <a:ext cx="6949440" cy="2304288"/>
        </p:xfrm>
        <a:graphic>
          <a:graphicData uri="http://schemas.openxmlformats.org/drawingml/2006/table">
            <a:tbl>
              <a:tblPr firstRow="1" bandRow="1">
                <a:tableStyleId>{5C22544A-7EE6-4342-B048-85BDC9FD1C3A}</a:tableStyleId>
              </a:tblPr>
              <a:tblGrid>
                <a:gridCol w="3474720"/>
                <a:gridCol w="1097280"/>
                <a:gridCol w="1097280"/>
                <a:gridCol w="1280160"/>
              </a:tblGrid>
              <a:tr h="384048">
                <a:tc>
                  <a:txBody>
                    <a:bodyPr/>
                    <a:lstStyle/>
                    <a:p>
                      <a:pPr algn="l"/>
                      <a:r>
                        <a:rPr sz="1400" b="1">
                          <a:solidFill>
                            <a:srgbClr val="FFFFFF"/>
                          </a:solidFill>
                          <a:latin typeface="Calibri"/>
                        </a:rPr>
                        <a:t>Método (5 semillas, 150 it.)</a:t>
                      </a:r>
                    </a:p>
                  </a:txBody>
                  <a:tcPr anchor="ctr">
                    <a:solidFill>
                      <a:srgbClr val="0F3D4C"/>
                    </a:solidFill>
                  </a:tcPr>
                </a:tc>
                <a:tc>
                  <a:txBody>
                    <a:bodyPr/>
                    <a:lstStyle/>
                    <a:p>
                      <a:pPr algn="ctr"/>
                      <a:r>
                        <a:rPr sz="1400" b="1">
                          <a:solidFill>
                            <a:srgbClr val="FFFFFF"/>
                          </a:solidFill>
                          <a:latin typeface="Calibri"/>
                        </a:rPr>
                        <a:t>Mediana</a:t>
                      </a:r>
                    </a:p>
                  </a:txBody>
                  <a:tcPr anchor="ctr">
                    <a:solidFill>
                      <a:srgbClr val="0F3D4C"/>
                    </a:solidFill>
                  </a:tcPr>
                </a:tc>
                <a:tc>
                  <a:txBody>
                    <a:bodyPr/>
                    <a:lstStyle/>
                    <a:p>
                      <a:pPr algn="ctr"/>
                      <a:r>
                        <a:rPr sz="1400" b="1">
                          <a:solidFill>
                            <a:srgbClr val="FFFFFF"/>
                          </a:solidFill>
                          <a:latin typeface="Calibri"/>
                        </a:rPr>
                        <a:t>Mejor</a:t>
                      </a:r>
                    </a:p>
                  </a:txBody>
                  <a:tcPr anchor="ctr">
                    <a:solidFill>
                      <a:srgbClr val="0F3D4C"/>
                    </a:solidFill>
                  </a:tcPr>
                </a:tc>
                <a:tc>
                  <a:txBody>
                    <a:bodyPr/>
                    <a:lstStyle/>
                    <a:p>
                      <a:pPr algn="ctr"/>
                      <a:r>
                        <a:rPr sz="1400" b="1">
                          <a:solidFill>
                            <a:srgbClr val="FFFFFF"/>
                          </a:solidFill>
                          <a:latin typeface="Calibri"/>
                        </a:rPr>
                        <a:t>Tiempo</a:t>
                      </a:r>
                    </a:p>
                  </a:txBody>
                  <a:tcPr anchor="ctr">
                    <a:solidFill>
                      <a:srgbClr val="0F3D4C"/>
                    </a:solidFill>
                  </a:tcPr>
                </a:tc>
              </a:tr>
              <a:tr h="384048">
                <a:tc>
                  <a:txBody>
                    <a:bodyPr/>
                    <a:lstStyle/>
                    <a:p>
                      <a:pPr algn="l"/>
                      <a:r>
                        <a:rPr sz="1400" b="1">
                          <a:solidFill>
                            <a:srgbClr val="1F2A30"/>
                          </a:solidFill>
                          <a:latin typeface="Calibri"/>
                        </a:rPr>
                        <a:t>Enumeración exacta (referencia)</a:t>
                      </a:r>
                    </a:p>
                  </a:txBody>
                  <a:tcPr anchor="ctr">
                    <a:solidFill>
                      <a:srgbClr val="E6EEE9"/>
                    </a:solidFill>
                  </a:tcPr>
                </a:tc>
                <a:tc>
                  <a:txBody>
                    <a:bodyPr/>
                    <a:lstStyle/>
                    <a:p>
                      <a:pPr algn="ctr"/>
                      <a:r>
                        <a:rPr sz="1400" b="1">
                          <a:solidFill>
                            <a:srgbClr val="1F2A30"/>
                          </a:solidFill>
                          <a:latin typeface="Calibri"/>
                        </a:rPr>
                        <a:t>340</a:t>
                      </a:r>
                    </a:p>
                  </a:txBody>
                  <a:tcPr anchor="ctr">
                    <a:solidFill>
                      <a:srgbClr val="E6EEE9"/>
                    </a:solidFill>
                  </a:tcPr>
                </a:tc>
                <a:tc>
                  <a:txBody>
                    <a:bodyPr/>
                    <a:lstStyle/>
                    <a:p>
                      <a:pPr algn="ctr"/>
                      <a:r>
                        <a:rPr sz="1400" b="1">
                          <a:solidFill>
                            <a:srgbClr val="1F2A30"/>
                          </a:solidFill>
                          <a:latin typeface="Calibri"/>
                        </a:rPr>
                        <a:t>340</a:t>
                      </a:r>
                    </a:p>
                  </a:txBody>
                  <a:tcPr anchor="ctr">
                    <a:solidFill>
                      <a:srgbClr val="E6EEE9"/>
                    </a:solidFill>
                  </a:tcPr>
                </a:tc>
                <a:tc>
                  <a:txBody>
                    <a:bodyPr/>
                    <a:lstStyle/>
                    <a:p>
                      <a:pPr algn="ctr"/>
                      <a:r>
                        <a:rPr sz="1400" b="1">
                          <a:solidFill>
                            <a:srgbClr val="1F2A30"/>
                          </a:solidFill>
                          <a:latin typeface="Calibri"/>
                        </a:rPr>
                        <a:t>≈2,5 s</a:t>
                      </a:r>
                    </a:p>
                  </a:txBody>
                  <a:tcPr anchor="ctr">
                    <a:solidFill>
                      <a:srgbClr val="E6EEE9"/>
                    </a:solidFill>
                  </a:tcPr>
                </a:tc>
              </a:tr>
              <a:tr h="384048">
                <a:tc>
                  <a:txBody>
                    <a:bodyPr/>
                    <a:lstStyle/>
                    <a:p>
                      <a:pPr algn="l"/>
                      <a:r>
                        <a:rPr sz="1400" b="0">
                          <a:solidFill>
                            <a:srgbClr val="1F2A30"/>
                          </a:solidFill>
                          <a:latin typeface="Calibri"/>
                        </a:rPr>
                        <a:t>LNS + QAOA (9 qubits)</a:t>
                      </a:r>
                    </a:p>
                  </a:txBody>
                  <a:tcPr anchor="ctr">
                    <a:solidFill>
                      <a:srgbClr val="FFFFFF"/>
                    </a:solidFill>
                  </a:tcPr>
                </a:tc>
                <a:tc>
                  <a:txBody>
                    <a:bodyPr/>
                    <a:lstStyle/>
                    <a:p>
                      <a:pPr algn="ctr"/>
                      <a:r>
                        <a:rPr sz="1400" b="0">
                          <a:solidFill>
                            <a:srgbClr val="1F2A30"/>
                          </a:solidFill>
                          <a:latin typeface="Calibri"/>
                        </a:rPr>
                        <a:t>374</a:t>
                      </a:r>
                    </a:p>
                  </a:txBody>
                  <a:tcPr anchor="ctr">
                    <a:solidFill>
                      <a:srgbClr val="FFFFFF"/>
                    </a:solidFill>
                  </a:tcPr>
                </a:tc>
                <a:tc>
                  <a:txBody>
                    <a:bodyPr/>
                    <a:lstStyle/>
                    <a:p>
                      <a:pPr algn="ctr"/>
                      <a:r>
                        <a:rPr sz="1400" b="0">
                          <a:solidFill>
                            <a:srgbClr val="1F2A30"/>
                          </a:solidFill>
                          <a:latin typeface="Calibri"/>
                        </a:rPr>
                        <a:t>360</a:t>
                      </a:r>
                    </a:p>
                  </a:txBody>
                  <a:tcPr anchor="ctr">
                    <a:solidFill>
                      <a:srgbClr val="FFFFFF"/>
                    </a:solidFill>
                  </a:tcPr>
                </a:tc>
                <a:tc>
                  <a:txBody>
                    <a:bodyPr/>
                    <a:lstStyle/>
                    <a:p>
                      <a:pPr algn="ctr"/>
                      <a:r>
                        <a:rPr sz="1400" b="0">
                          <a:solidFill>
                            <a:srgbClr val="1F2A30"/>
                          </a:solidFill>
                          <a:latin typeface="Calibri"/>
                        </a:rPr>
                        <a:t>83 s</a:t>
                      </a:r>
                    </a:p>
                  </a:txBody>
                  <a:tcPr anchor="ctr">
                    <a:solidFill>
                      <a:srgbClr val="FFFFFF"/>
                    </a:solidFill>
                  </a:tcPr>
                </a:tc>
              </a:tr>
              <a:tr h="384048">
                <a:tc>
                  <a:txBody>
                    <a:bodyPr/>
                    <a:lstStyle/>
                    <a:p>
                      <a:pPr algn="l"/>
                      <a:r>
                        <a:rPr sz="1400" b="0">
                          <a:solidFill>
                            <a:srgbClr val="1F2A30"/>
                          </a:solidFill>
                          <a:latin typeface="Calibri"/>
                        </a:rPr>
                        <a:t>LNS + exacto local (3 vuelos)</a:t>
                      </a:r>
                    </a:p>
                  </a:txBody>
                  <a:tcPr anchor="ctr">
                    <a:solidFill>
                      <a:srgbClr val="FFFFFF"/>
                    </a:solidFill>
                  </a:tcPr>
                </a:tc>
                <a:tc>
                  <a:txBody>
                    <a:bodyPr/>
                    <a:lstStyle/>
                    <a:p>
                      <a:pPr algn="ctr"/>
                      <a:r>
                        <a:rPr sz="1400" b="0">
                          <a:solidFill>
                            <a:srgbClr val="1F2A30"/>
                          </a:solidFill>
                          <a:latin typeface="Calibri"/>
                        </a:rPr>
                        <a:t>368</a:t>
                      </a:r>
                    </a:p>
                  </a:txBody>
                  <a:tcPr anchor="ctr">
                    <a:solidFill>
                      <a:srgbClr val="FFFFFF"/>
                    </a:solidFill>
                  </a:tcPr>
                </a:tc>
                <a:tc>
                  <a:txBody>
                    <a:bodyPr/>
                    <a:lstStyle/>
                    <a:p>
                      <a:pPr algn="ctr"/>
                      <a:r>
                        <a:rPr sz="1400" b="0">
                          <a:solidFill>
                            <a:srgbClr val="1F2A30"/>
                          </a:solidFill>
                          <a:latin typeface="Calibri"/>
                        </a:rPr>
                        <a:t>358</a:t>
                      </a:r>
                    </a:p>
                  </a:txBody>
                  <a:tcPr anchor="ctr">
                    <a:solidFill>
                      <a:srgbClr val="FFFFFF"/>
                    </a:solidFill>
                  </a:tcPr>
                </a:tc>
                <a:tc>
                  <a:txBody>
                    <a:bodyPr/>
                    <a:lstStyle/>
                    <a:p>
                      <a:pPr algn="ctr"/>
                      <a:r>
                        <a:rPr sz="1400" b="0">
                          <a:solidFill>
                            <a:srgbClr val="1F2A30"/>
                          </a:solidFill>
                          <a:latin typeface="Calibri"/>
                        </a:rPr>
                        <a:t>0,02 s</a:t>
                      </a:r>
                    </a:p>
                  </a:txBody>
                  <a:tcPr anchor="ctr">
                    <a:solidFill>
                      <a:srgbClr val="FFFFFF"/>
                    </a:solidFill>
                  </a:tcPr>
                </a:tc>
              </a:tr>
              <a:tr h="384048">
                <a:tc>
                  <a:txBody>
                    <a:bodyPr/>
                    <a:lstStyle/>
                    <a:p>
                      <a:pPr algn="l"/>
                      <a:r>
                        <a:rPr sz="1400" b="0">
                          <a:solidFill>
                            <a:srgbClr val="1F2A30"/>
                          </a:solidFill>
                          <a:latin typeface="Calibri"/>
                        </a:rPr>
                        <a:t>LNS + azar</a:t>
                      </a:r>
                    </a:p>
                  </a:txBody>
                  <a:tcPr anchor="ctr">
                    <a:solidFill>
                      <a:srgbClr val="FFFFFF"/>
                    </a:solidFill>
                  </a:tcPr>
                </a:tc>
                <a:tc>
                  <a:txBody>
                    <a:bodyPr/>
                    <a:lstStyle/>
                    <a:p>
                      <a:pPr algn="ctr"/>
                      <a:r>
                        <a:rPr sz="1400" b="0">
                          <a:solidFill>
                            <a:srgbClr val="1F2A30"/>
                          </a:solidFill>
                          <a:latin typeface="Calibri"/>
                        </a:rPr>
                        <a:t>374</a:t>
                      </a:r>
                    </a:p>
                  </a:txBody>
                  <a:tcPr anchor="ctr">
                    <a:solidFill>
                      <a:srgbClr val="FFFFFF"/>
                    </a:solidFill>
                  </a:tcPr>
                </a:tc>
                <a:tc>
                  <a:txBody>
                    <a:bodyPr/>
                    <a:lstStyle/>
                    <a:p>
                      <a:pPr algn="ctr"/>
                      <a:r>
                        <a:rPr sz="1400" b="0">
                          <a:solidFill>
                            <a:srgbClr val="1F2A30"/>
                          </a:solidFill>
                          <a:latin typeface="Calibri"/>
                        </a:rPr>
                        <a:t>364</a:t>
                      </a:r>
                    </a:p>
                  </a:txBody>
                  <a:tcPr anchor="ctr">
                    <a:solidFill>
                      <a:srgbClr val="FFFFFF"/>
                    </a:solidFill>
                  </a:tcPr>
                </a:tc>
                <a:tc>
                  <a:txBody>
                    <a:bodyPr/>
                    <a:lstStyle/>
                    <a:p>
                      <a:pPr algn="ctr"/>
                      <a:r>
                        <a:rPr sz="1400" b="0">
                          <a:solidFill>
                            <a:srgbClr val="1F2A30"/>
                          </a:solidFill>
                          <a:latin typeface="Calibri"/>
                        </a:rPr>
                        <a:t>0,02 s</a:t>
                      </a:r>
                    </a:p>
                  </a:txBody>
                  <a:tcPr anchor="ctr">
                    <a:solidFill>
                      <a:srgbClr val="FFFFFF"/>
                    </a:solidFill>
                  </a:tcPr>
                </a:tc>
              </a:tr>
              <a:tr h="384048">
                <a:tc>
                  <a:txBody>
                    <a:bodyPr/>
                    <a:lstStyle/>
                    <a:p>
                      <a:pPr algn="l"/>
                      <a:r>
                        <a:rPr sz="1400" b="0">
                          <a:solidFill>
                            <a:srgbClr val="1F2A30"/>
                          </a:solidFill>
                          <a:latin typeface="Calibri"/>
                        </a:rPr>
                        <a:t>SciPy FAQ (heurística clásica)</a:t>
                      </a:r>
                    </a:p>
                  </a:txBody>
                  <a:tcPr anchor="ctr">
                    <a:solidFill>
                      <a:srgbClr val="FFFFFF"/>
                    </a:solidFill>
                  </a:tcPr>
                </a:tc>
                <a:tc>
                  <a:txBody>
                    <a:bodyPr/>
                    <a:lstStyle/>
                    <a:p>
                      <a:pPr algn="ctr"/>
                      <a:r>
                        <a:rPr sz="1400" b="0">
                          <a:solidFill>
                            <a:srgbClr val="1F2A30"/>
                          </a:solidFill>
                          <a:latin typeface="Calibri"/>
                        </a:rPr>
                        <a:t>380</a:t>
                      </a:r>
                    </a:p>
                  </a:txBody>
                  <a:tcPr anchor="ctr">
                    <a:solidFill>
                      <a:srgbClr val="FFFFFF"/>
                    </a:solidFill>
                  </a:tcPr>
                </a:tc>
                <a:tc>
                  <a:txBody>
                    <a:bodyPr/>
                    <a:lstStyle/>
                    <a:p>
                      <a:pPr algn="ctr"/>
                      <a:r>
                        <a:rPr sz="1400" b="0">
                          <a:solidFill>
                            <a:srgbClr val="1F2A30"/>
                          </a:solidFill>
                          <a:latin typeface="Calibri"/>
                        </a:rPr>
                        <a:t>364</a:t>
                      </a:r>
                    </a:p>
                  </a:txBody>
                  <a:tcPr anchor="ctr">
                    <a:solidFill>
                      <a:srgbClr val="FFFFFF"/>
                    </a:solidFill>
                  </a:tcPr>
                </a:tc>
                <a:tc>
                  <a:txBody>
                    <a:bodyPr/>
                    <a:lstStyle/>
                    <a:p>
                      <a:pPr algn="ctr"/>
                      <a:r>
                        <a:rPr sz="1400" b="0">
                          <a:solidFill>
                            <a:srgbClr val="1F2A30"/>
                          </a:solidFill>
                          <a:latin typeface="Calibri"/>
                        </a:rPr>
                        <a:t>0,002 s</a:t>
                      </a:r>
                    </a:p>
                  </a:txBody>
                  <a:tcPr anchor="ctr">
                    <a:solidFill>
                      <a:srgbClr val="FFFFFF"/>
                    </a:solidFill>
                  </a:tcPr>
                </a:tc>
              </a:tr>
            </a:tbl>
          </a:graphicData>
        </a:graphic>
      </p:graphicFrame>
      <p:sp>
        <p:nvSpPr>
          <p:cNvPr id="8" name="TextBox 7"/>
          <p:cNvSpPr txBox="1"/>
          <p:nvPr/>
        </p:nvSpPr>
        <p:spPr>
          <a:xfrm>
            <a:off x="548640" y="4114800"/>
            <a:ext cx="6949440" cy="2194560"/>
          </a:xfrm>
          <a:prstGeom prst="rect">
            <a:avLst/>
          </a:prstGeom>
          <a:noFill/>
        </p:spPr>
        <p:txBody>
          <a:bodyPr wrap="square" anchor="t" lIns="45720" rIns="45720">
            <a:spAutoFit/>
          </a:bodyPr>
          <a:lstStyle/>
          <a:p>
            <a:pPr algn="l">
              <a:spcAft>
                <a:spcPts val="600"/>
              </a:spcAft>
            </a:pPr>
            <a:r>
              <a:rPr sz="1500" b="0">
                <a:solidFill>
                  <a:srgbClr val="1F2A30"/>
                </a:solidFill>
                <a:latin typeface="Calibri"/>
              </a:rPr>
              <a:t>•  Todas las asignaciones son válidas; ninguna se reparó</a:t>
            </a:r>
          </a:p>
          <a:p>
            <a:pPr algn="l">
              <a:spcAft>
                <a:spcPts val="600"/>
              </a:spcAft>
            </a:pPr>
            <a:r>
              <a:rPr sz="1500" b="0">
                <a:solidFill>
                  <a:srgbClr val="1F2A30"/>
                </a:solidFill>
                <a:latin typeface="Calibri"/>
              </a:rPr>
              <a:t>•  QAOA acierta el óptimo del subproblema en el 89 % de 750 llamadas</a:t>
            </a:r>
          </a:p>
          <a:p>
            <a:pPr algn="l">
              <a:spcAft>
                <a:spcPts val="600"/>
              </a:spcAft>
            </a:pPr>
            <a:r>
              <a:rPr sz="1500" b="0">
                <a:solidFill>
                  <a:srgbClr val="1F2A30"/>
                </a:solidFill>
                <a:latin typeface="Calibri"/>
              </a:rPr>
              <a:t>•  Las diferencias entre métodos están dentro del ruido entre semillas</a:t>
            </a:r>
          </a:p>
        </p:txBody>
      </p:sp>
      <p:pic>
        <p:nvPicPr>
          <p:cNvPr id="9" name="Picture 8" descr="hybrid_final.png"/>
          <p:cNvPicPr>
            <a:picLocks noChangeAspect="1"/>
          </p:cNvPicPr>
          <p:nvPr/>
        </p:nvPicPr>
        <p:blipFill>
          <a:blip r:embed="rId3"/>
          <a:stretch>
            <a:fillRect/>
          </a:stretch>
        </p:blipFill>
        <p:spPr>
          <a:xfrm>
            <a:off x="7680960" y="2852928"/>
            <a:ext cx="4114800" cy="1975103"/>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6F0"/>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1F8A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320040"/>
          </a:xfrm>
          <a:prstGeom prst="rect">
            <a:avLst/>
          </a:prstGeom>
          <a:noFill/>
        </p:spPr>
        <p:txBody>
          <a:bodyPr wrap="square" anchor="t" lIns="45720" rIns="45720">
            <a:spAutoFit/>
          </a:bodyPr>
          <a:lstStyle/>
          <a:p>
            <a:pPr algn="l">
              <a:spcAft>
                <a:spcPts val="600"/>
              </a:spcAft>
            </a:pPr>
            <a:r>
              <a:rPr sz="1200" b="1">
                <a:solidFill>
                  <a:srgbClr val="1F8A70"/>
                </a:solidFill>
                <a:latin typeface="Calibri"/>
              </a:rPr>
              <a:t>RIGOR · CORROBORACIÓN Y ESCALAMIENTO</a:t>
            </a:r>
          </a:p>
        </p:txBody>
      </p:sp>
      <p:sp>
        <p:nvSpPr>
          <p:cNvPr id="4" name="TextBox 3"/>
          <p:cNvSpPr txBox="1"/>
          <p:nvPr/>
        </p:nvSpPr>
        <p:spPr>
          <a:xfrm>
            <a:off x="548640" y="594360"/>
            <a:ext cx="11155680" cy="822960"/>
          </a:xfrm>
          <a:prstGeom prst="rect">
            <a:avLst/>
          </a:prstGeom>
          <a:noFill/>
        </p:spPr>
        <p:txBody>
          <a:bodyPr wrap="square" anchor="t" lIns="45720" rIns="45720">
            <a:spAutoFit/>
          </a:bodyPr>
          <a:lstStyle/>
          <a:p>
            <a:pPr algn="l">
              <a:spcAft>
                <a:spcPts val="600"/>
              </a:spcAft>
            </a:pPr>
            <a:r>
              <a:rPr sz="3000" b="1">
                <a:solidFill>
                  <a:srgbClr val="0F3D4C"/>
                </a:solidFill>
                <a:latin typeface="Calibri"/>
              </a:rPr>
              <a:t>Escalamiento N=1…10: óptimo hasta N=6, brecha del 10 % en N=10</a:t>
            </a:r>
          </a:p>
        </p:txBody>
      </p:sp>
      <p:sp>
        <p:nvSpPr>
          <p:cNvPr id="5" name="TextBox 4"/>
          <p:cNvSpPr txBox="1"/>
          <p:nvPr/>
        </p:nvSpPr>
        <p:spPr>
          <a:xfrm>
            <a:off x="548640" y="6446520"/>
            <a:ext cx="8229600" cy="274320"/>
          </a:xfrm>
          <a:prstGeom prst="rect">
            <a:avLst/>
          </a:prstGeom>
          <a:noFill/>
        </p:spPr>
        <p:txBody>
          <a:bodyPr wrap="square" anchor="t" lIns="45720" rIns="45720">
            <a:spAutoFit/>
          </a:bodyPr>
          <a:lstStyle/>
          <a:p>
            <a:pPr algn="l">
              <a:spcAft>
                <a:spcPts val="600"/>
              </a:spcAft>
            </a:pPr>
            <a:r>
              <a:rPr sz="1000" b="0">
                <a:solidFill>
                  <a:srgbClr val="5B6870"/>
                </a:solidFill>
                <a:latin typeface="Calibri"/>
              </a:rPr>
              <a:t>Sin-equipo · Qiskit Fall Fest 2026 · Reto NTT DATA · Track A</a:t>
            </a:r>
          </a:p>
        </p:txBody>
      </p:sp>
      <p:sp>
        <p:nvSpPr>
          <p:cNvPr id="6" name="TextBox 5"/>
          <p:cNvSpPr txBox="1"/>
          <p:nvPr/>
        </p:nvSpPr>
        <p:spPr>
          <a:xfrm>
            <a:off x="10881360" y="6446520"/>
            <a:ext cx="822960" cy="274320"/>
          </a:xfrm>
          <a:prstGeom prst="rect">
            <a:avLst/>
          </a:prstGeom>
          <a:noFill/>
        </p:spPr>
        <p:txBody>
          <a:bodyPr wrap="square" anchor="t" lIns="45720" rIns="45720">
            <a:spAutoFit/>
          </a:bodyPr>
          <a:lstStyle/>
          <a:p>
            <a:pPr algn="r">
              <a:spcAft>
                <a:spcPts val="600"/>
              </a:spcAft>
            </a:pPr>
            <a:r>
              <a:rPr sz="1000" b="0">
                <a:solidFill>
                  <a:srgbClr val="5B6870"/>
                </a:solidFill>
                <a:latin typeface="Calibri"/>
              </a:rPr>
              <a:t>6/9</a:t>
            </a:r>
          </a:p>
        </p:txBody>
      </p:sp>
      <p:pic>
        <p:nvPicPr>
          <p:cNvPr id="7" name="Picture 6" descr="scaling.png"/>
          <p:cNvPicPr>
            <a:picLocks noChangeAspect="1"/>
          </p:cNvPicPr>
          <p:nvPr/>
        </p:nvPicPr>
        <p:blipFill>
          <a:blip r:embed="rId3"/>
          <a:stretch>
            <a:fillRect/>
          </a:stretch>
        </p:blipFill>
        <p:spPr>
          <a:xfrm>
            <a:off x="457200" y="2750312"/>
            <a:ext cx="6766560" cy="2180336"/>
          </a:xfrm>
          <a:prstGeom prst="rect">
            <a:avLst/>
          </a:prstGeom>
        </p:spPr>
      </p:pic>
      <p:sp>
        <p:nvSpPr>
          <p:cNvPr id="8" name="TextBox 7"/>
          <p:cNvSpPr txBox="1"/>
          <p:nvPr/>
        </p:nvSpPr>
        <p:spPr>
          <a:xfrm>
            <a:off x="7498079" y="1645920"/>
            <a:ext cx="4297680" cy="4572000"/>
          </a:xfrm>
          <a:prstGeom prst="rect">
            <a:avLst/>
          </a:prstGeom>
          <a:noFill/>
        </p:spPr>
        <p:txBody>
          <a:bodyPr wrap="square" anchor="t" lIns="45720" rIns="45720">
            <a:spAutoFit/>
          </a:bodyPr>
          <a:lstStyle/>
          <a:p>
            <a:pPr algn="l">
              <a:spcAft>
                <a:spcPts val="600"/>
              </a:spcAft>
            </a:pPr>
            <a:r>
              <a:rPr sz="1600" b="0">
                <a:solidFill>
                  <a:srgbClr val="1F2A30"/>
                </a:solidFill>
                <a:latin typeface="Calibri"/>
              </a:rPr>
              <a:t>•  3 semillas, 60 iteraciones por corrida</a:t>
            </a:r>
          </a:p>
          <a:p>
            <a:pPr algn="l">
              <a:spcAft>
                <a:spcPts val="600"/>
              </a:spcAft>
            </a:pPr>
            <a:r>
              <a:rPr sz="1600" b="0">
                <a:solidFill>
                  <a:srgbClr val="1F2A30"/>
                </a:solidFill>
                <a:latin typeface="Calibri"/>
              </a:rPr>
              <a:t>•  Óptimo alcanzado en N=4–6</a:t>
            </a:r>
          </a:p>
          <a:p>
            <a:pPr algn="l">
              <a:spcAft>
                <a:spcPts val="600"/>
              </a:spcAft>
            </a:pPr>
            <a:r>
              <a:rPr sz="1600" b="0">
                <a:solidFill>
                  <a:srgbClr val="1F2A30"/>
                </a:solidFill>
                <a:latin typeface="Calibri"/>
              </a:rPr>
              <a:t>•  Brecha ≤ 2 % en N=7–8; 13,6 % en N=9; 10 % en N=10</a:t>
            </a:r>
          </a:p>
          <a:p>
            <a:pPr algn="l">
              <a:spcAft>
                <a:spcPts val="600"/>
              </a:spcAft>
            </a:pPr>
            <a:r>
              <a:rPr sz="1600" b="0">
                <a:solidFill>
                  <a:srgbClr val="1F2A30"/>
                </a:solidFill>
                <a:latin typeface="Calibri"/>
              </a:rPr>
              <a:t>•  Exacto: &lt;1 ms hasta N=5, 2,6 s en N=10</a:t>
            </a:r>
          </a:p>
          <a:p>
            <a:pPr algn="l">
              <a:spcAft>
                <a:spcPts val="600"/>
              </a:spcAft>
            </a:pPr>
            <a:r>
              <a:rPr sz="1600" b="0">
                <a:solidFill>
                  <a:srgbClr val="1F2A30"/>
                </a:solidFill>
                <a:latin typeface="Calibri"/>
              </a:rPr>
              <a:t>•  N=14: 2^196 amplitudes (statevector) y ≈8,7×10¹⁰ permutaciones; se medirá, no se extrapolará</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6F0"/>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1F8A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320040"/>
          </a:xfrm>
          <a:prstGeom prst="rect">
            <a:avLst/>
          </a:prstGeom>
          <a:noFill/>
        </p:spPr>
        <p:txBody>
          <a:bodyPr wrap="square" anchor="t" lIns="45720" rIns="45720">
            <a:spAutoFit/>
          </a:bodyPr>
          <a:lstStyle/>
          <a:p>
            <a:pPr algn="l">
              <a:spcAft>
                <a:spcPts val="600"/>
              </a:spcAft>
            </a:pPr>
            <a:r>
              <a:rPr sz="1200" b="1">
                <a:solidFill>
                  <a:srgbClr val="1F8A70"/>
                </a:solidFill>
                <a:latin typeface="Calibri"/>
              </a:rPr>
              <a:t>CLARIDAD Y SENTIDO OPERATIVO</a:t>
            </a:r>
          </a:p>
        </p:txBody>
      </p:sp>
      <p:sp>
        <p:nvSpPr>
          <p:cNvPr id="4" name="TextBox 3"/>
          <p:cNvSpPr txBox="1"/>
          <p:nvPr/>
        </p:nvSpPr>
        <p:spPr>
          <a:xfrm>
            <a:off x="548640" y="594360"/>
            <a:ext cx="11155680" cy="822960"/>
          </a:xfrm>
          <a:prstGeom prst="rect">
            <a:avLst/>
          </a:prstGeom>
          <a:noFill/>
        </p:spPr>
        <p:txBody>
          <a:bodyPr wrap="square" anchor="t" lIns="45720" rIns="45720">
            <a:spAutoFit/>
          </a:bodyPr>
          <a:lstStyle/>
          <a:p>
            <a:pPr algn="l">
              <a:spcAft>
                <a:spcPts val="600"/>
              </a:spcAft>
            </a:pPr>
            <a:r>
              <a:rPr sz="3000" b="1">
                <a:solidFill>
                  <a:srgbClr val="0F3D4C"/>
                </a:solidFill>
                <a:latin typeface="Calibri"/>
              </a:rPr>
              <a:t>Demo: dos terminales, mismas diez puertas</a:t>
            </a:r>
          </a:p>
        </p:txBody>
      </p:sp>
      <p:sp>
        <p:nvSpPr>
          <p:cNvPr id="5" name="TextBox 4"/>
          <p:cNvSpPr txBox="1"/>
          <p:nvPr/>
        </p:nvSpPr>
        <p:spPr>
          <a:xfrm>
            <a:off x="548640" y="6446520"/>
            <a:ext cx="8229600" cy="274320"/>
          </a:xfrm>
          <a:prstGeom prst="rect">
            <a:avLst/>
          </a:prstGeom>
          <a:noFill/>
        </p:spPr>
        <p:txBody>
          <a:bodyPr wrap="square" anchor="t" lIns="45720" rIns="45720">
            <a:spAutoFit/>
          </a:bodyPr>
          <a:lstStyle/>
          <a:p>
            <a:pPr algn="l">
              <a:spcAft>
                <a:spcPts val="600"/>
              </a:spcAft>
            </a:pPr>
            <a:r>
              <a:rPr sz="1000" b="0">
                <a:solidFill>
                  <a:srgbClr val="5B6870"/>
                </a:solidFill>
                <a:latin typeface="Calibri"/>
              </a:rPr>
              <a:t>Sin-equipo · Qiskit Fall Fest 2026 · Reto NTT DATA · Track A</a:t>
            </a:r>
          </a:p>
        </p:txBody>
      </p:sp>
      <p:sp>
        <p:nvSpPr>
          <p:cNvPr id="6" name="TextBox 5"/>
          <p:cNvSpPr txBox="1"/>
          <p:nvPr/>
        </p:nvSpPr>
        <p:spPr>
          <a:xfrm>
            <a:off x="10881360" y="6446520"/>
            <a:ext cx="822960" cy="274320"/>
          </a:xfrm>
          <a:prstGeom prst="rect">
            <a:avLst/>
          </a:prstGeom>
          <a:noFill/>
        </p:spPr>
        <p:txBody>
          <a:bodyPr wrap="square" anchor="t" lIns="45720" rIns="45720">
            <a:spAutoFit/>
          </a:bodyPr>
          <a:lstStyle/>
          <a:p>
            <a:pPr algn="r">
              <a:spcAft>
                <a:spcPts val="600"/>
              </a:spcAft>
            </a:pPr>
            <a:r>
              <a:rPr sz="1000" b="0">
                <a:solidFill>
                  <a:srgbClr val="5B6870"/>
                </a:solidFill>
                <a:latin typeface="Calibri"/>
              </a:rPr>
              <a:t>7/9</a:t>
            </a:r>
          </a:p>
        </p:txBody>
      </p:sp>
      <p:pic>
        <p:nvPicPr>
          <p:cNvPr id="7" name="Picture 6" descr="terminal_map.png"/>
          <p:cNvPicPr>
            <a:picLocks noChangeAspect="1"/>
          </p:cNvPicPr>
          <p:nvPr/>
        </p:nvPicPr>
        <p:blipFill>
          <a:blip r:embed="rId3"/>
          <a:stretch>
            <a:fillRect/>
          </a:stretch>
        </p:blipFill>
        <p:spPr>
          <a:xfrm>
            <a:off x="457200" y="2795713"/>
            <a:ext cx="6400799" cy="2089533"/>
          </a:xfrm>
          <a:prstGeom prst="rect">
            <a:avLst/>
          </a:prstGeom>
        </p:spPr>
      </p:pic>
      <p:sp>
        <p:nvSpPr>
          <p:cNvPr id="8" name="TextBox 7"/>
          <p:cNvSpPr txBox="1"/>
          <p:nvPr/>
        </p:nvSpPr>
        <p:spPr>
          <a:xfrm>
            <a:off x="7132320" y="1645920"/>
            <a:ext cx="4663440" cy="4572000"/>
          </a:xfrm>
          <a:prstGeom prst="rect">
            <a:avLst/>
          </a:prstGeom>
          <a:noFill/>
        </p:spPr>
        <p:txBody>
          <a:bodyPr wrap="square" anchor="t" lIns="45720" rIns="45720">
            <a:spAutoFit/>
          </a:bodyPr>
          <a:lstStyle/>
          <a:p>
            <a:pPr algn="l">
              <a:spcAft>
                <a:spcPts val="600"/>
              </a:spcAft>
            </a:pPr>
            <a:r>
              <a:rPr sz="1600" b="0">
                <a:solidFill>
                  <a:srgbClr val="1F2A30"/>
                </a:solidFill>
                <a:latin typeface="Calibri"/>
              </a:rPr>
              <a:t>•  La app reproduce corridas reales guardadas (semilla fija)</a:t>
            </a:r>
          </a:p>
          <a:p>
            <a:pPr algn="l">
              <a:spcAft>
                <a:spcPts val="600"/>
              </a:spcAft>
            </a:pPr>
            <a:r>
              <a:rPr sz="1600" b="0">
                <a:solidFill>
                  <a:srgbClr val="1F2A30"/>
                </a:solidFill>
                <a:latin typeface="Calibri"/>
              </a:rPr>
              <a:t>•  Duelo LNS exacto vs LNS + QAOA, N=1…10</a:t>
            </a:r>
          </a:p>
          <a:p>
            <a:pPr algn="l">
              <a:spcAft>
                <a:spcPts val="600"/>
              </a:spcAft>
            </a:pPr>
            <a:r>
              <a:rPr sz="1600" b="0">
                <a:solidFill>
                  <a:srgbClr val="1F2A30"/>
                </a:solidFill>
                <a:latin typeface="Calibri"/>
              </a:rPr>
              <a:t>•  Experimento N=3/4: penalización vs intercambio, con muestras reales</a:t>
            </a:r>
          </a:p>
          <a:p>
            <a:pPr algn="l">
              <a:spcAft>
                <a:spcPts val="600"/>
              </a:spcAft>
            </a:pPr>
            <a:r>
              <a:rPr sz="1600" b="0">
                <a:solidFill>
                  <a:srgbClr val="1F2A30"/>
                </a:solidFill>
                <a:latin typeface="Calibri"/>
              </a:rPr>
              <a:t>•  Intercambio manual de vuelos; el costo se recalcula en Python</a:t>
            </a:r>
          </a:p>
          <a:p>
            <a:pPr algn="l">
              <a:spcAft>
                <a:spcPts val="600"/>
              </a:spcAft>
            </a:pPr>
            <a:r>
              <a:rPr sz="1600" b="0">
                <a:solidFill>
                  <a:srgbClr val="1F2A30"/>
                </a:solidFill>
                <a:latin typeface="Calibri"/>
              </a:rPr>
              <a:t>•  Panel «Evidencia» con tablas, semillas y límites</a:t>
            </a:r>
          </a:p>
          <a:p>
            <a:pPr algn="l">
              <a:spcAft>
                <a:spcPts val="600"/>
              </a:spcAft>
            </a:pPr>
            <a:r>
              <a:rPr sz="1600" b="0">
                <a:solidFill>
                  <a:srgbClr val="1F2A30"/>
                </a:solidFill>
                <a:latin typeface="Calibri"/>
              </a:rPr>
              <a:t>•  Demo en línea: [PEGAR LINK DE STREAMLIT]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6F0"/>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1F8A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320040"/>
          </a:xfrm>
          <a:prstGeom prst="rect">
            <a:avLst/>
          </a:prstGeom>
          <a:noFill/>
        </p:spPr>
        <p:txBody>
          <a:bodyPr wrap="square" anchor="t" lIns="45720" rIns="45720">
            <a:spAutoFit/>
          </a:bodyPr>
          <a:lstStyle/>
          <a:p>
            <a:pPr algn="l">
              <a:spcAft>
                <a:spcPts val="600"/>
              </a:spcAft>
            </a:pPr>
            <a:r>
              <a:rPr sz="1200" b="1">
                <a:solidFill>
                  <a:srgbClr val="1F8A70"/>
                </a:solidFill>
                <a:latin typeface="Calibri"/>
              </a:rPr>
              <a:t>RIGOR · LÍMITES Y LECTURA OPERATIVA</a:t>
            </a:r>
          </a:p>
        </p:txBody>
      </p:sp>
      <p:sp>
        <p:nvSpPr>
          <p:cNvPr id="4" name="TextBox 3"/>
          <p:cNvSpPr txBox="1"/>
          <p:nvPr/>
        </p:nvSpPr>
        <p:spPr>
          <a:xfrm>
            <a:off x="548640" y="594360"/>
            <a:ext cx="11155680" cy="822960"/>
          </a:xfrm>
          <a:prstGeom prst="rect">
            <a:avLst/>
          </a:prstGeom>
          <a:noFill/>
        </p:spPr>
        <p:txBody>
          <a:bodyPr wrap="square" anchor="t" lIns="45720" rIns="45720">
            <a:spAutoFit/>
          </a:bodyPr>
          <a:lstStyle/>
          <a:p>
            <a:pPr algn="l">
              <a:spcAft>
                <a:spcPts val="600"/>
              </a:spcAft>
            </a:pPr>
            <a:r>
              <a:rPr sz="3000" b="1">
                <a:solidFill>
                  <a:srgbClr val="0F3D4C"/>
                </a:solidFill>
                <a:latin typeface="Calibri"/>
              </a:rPr>
              <a:t>Lo que no afirmamos</a:t>
            </a:r>
          </a:p>
        </p:txBody>
      </p:sp>
      <p:sp>
        <p:nvSpPr>
          <p:cNvPr id="5" name="TextBox 4"/>
          <p:cNvSpPr txBox="1"/>
          <p:nvPr/>
        </p:nvSpPr>
        <p:spPr>
          <a:xfrm>
            <a:off x="548640" y="6446520"/>
            <a:ext cx="8229600" cy="274320"/>
          </a:xfrm>
          <a:prstGeom prst="rect">
            <a:avLst/>
          </a:prstGeom>
          <a:noFill/>
        </p:spPr>
        <p:txBody>
          <a:bodyPr wrap="square" anchor="t" lIns="45720" rIns="45720">
            <a:spAutoFit/>
          </a:bodyPr>
          <a:lstStyle/>
          <a:p>
            <a:pPr algn="l">
              <a:spcAft>
                <a:spcPts val="600"/>
              </a:spcAft>
            </a:pPr>
            <a:r>
              <a:rPr sz="1000" b="0">
                <a:solidFill>
                  <a:srgbClr val="5B6870"/>
                </a:solidFill>
                <a:latin typeface="Calibri"/>
              </a:rPr>
              <a:t>Sin-equipo · Qiskit Fall Fest 2026 · Reto NTT DATA · Track A</a:t>
            </a:r>
          </a:p>
        </p:txBody>
      </p:sp>
      <p:sp>
        <p:nvSpPr>
          <p:cNvPr id="6" name="TextBox 5"/>
          <p:cNvSpPr txBox="1"/>
          <p:nvPr/>
        </p:nvSpPr>
        <p:spPr>
          <a:xfrm>
            <a:off x="10881360" y="6446520"/>
            <a:ext cx="822960" cy="274320"/>
          </a:xfrm>
          <a:prstGeom prst="rect">
            <a:avLst/>
          </a:prstGeom>
          <a:noFill/>
        </p:spPr>
        <p:txBody>
          <a:bodyPr wrap="square" anchor="t" lIns="45720" rIns="45720">
            <a:spAutoFit/>
          </a:bodyPr>
          <a:lstStyle/>
          <a:p>
            <a:pPr algn="r">
              <a:spcAft>
                <a:spcPts val="600"/>
              </a:spcAft>
            </a:pPr>
            <a:r>
              <a:rPr sz="1000" b="0">
                <a:solidFill>
                  <a:srgbClr val="5B6870"/>
                </a:solidFill>
                <a:latin typeface="Calibri"/>
              </a:rPr>
              <a:t>8/9</a:t>
            </a:r>
          </a:p>
        </p:txBody>
      </p:sp>
      <p:sp>
        <p:nvSpPr>
          <p:cNvPr id="7" name="Rounded Rectangle 6"/>
          <p:cNvSpPr/>
          <p:nvPr/>
        </p:nvSpPr>
        <p:spPr>
          <a:xfrm>
            <a:off x="548640" y="1645920"/>
            <a:ext cx="5394960" cy="4389120"/>
          </a:xfrm>
          <a:prstGeom prst="roundRect">
            <a:avLst>
              <a:gd name="adj" fmla="val 8000"/>
            </a:avLst>
          </a:prstGeom>
          <a:solidFill>
            <a:srgbClr val="E6EE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737360"/>
            <a:ext cx="5120640" cy="365760"/>
          </a:xfrm>
          <a:prstGeom prst="rect">
            <a:avLst/>
          </a:prstGeom>
          <a:noFill/>
        </p:spPr>
        <p:txBody>
          <a:bodyPr wrap="square" anchor="t" lIns="45720" rIns="45720">
            <a:spAutoFit/>
          </a:bodyPr>
          <a:lstStyle/>
          <a:p>
            <a:pPr algn="l">
              <a:spcAft>
                <a:spcPts val="600"/>
              </a:spcAft>
            </a:pPr>
            <a:r>
              <a:rPr sz="1500" b="1">
                <a:solidFill>
                  <a:srgbClr val="0F3D4C"/>
                </a:solidFill>
                <a:latin typeface="Calibri"/>
              </a:rPr>
              <a:t>Límites medidos</a:t>
            </a:r>
          </a:p>
        </p:txBody>
      </p:sp>
      <p:sp>
        <p:nvSpPr>
          <p:cNvPr id="9" name="TextBox 8"/>
          <p:cNvSpPr txBox="1"/>
          <p:nvPr/>
        </p:nvSpPr>
        <p:spPr>
          <a:xfrm>
            <a:off x="685800" y="2148840"/>
            <a:ext cx="5120640" cy="3794759"/>
          </a:xfrm>
          <a:prstGeom prst="rect">
            <a:avLst/>
          </a:prstGeom>
          <a:noFill/>
        </p:spPr>
        <p:txBody>
          <a:bodyPr wrap="square" anchor="t" lIns="45720" rIns="45720">
            <a:spAutoFit/>
          </a:bodyPr>
          <a:lstStyle/>
          <a:p>
            <a:pPr algn="l">
              <a:spcAft>
                <a:spcPts val="600"/>
              </a:spcAft>
            </a:pPr>
            <a:r>
              <a:rPr sz="1300" b="0">
                <a:solidFill>
                  <a:srgbClr val="1F2A30"/>
                </a:solidFill>
                <a:latin typeface="Calibri"/>
              </a:rPr>
              <a:t>• Simulación ideal (Aer statevector): sin ruido y sin hardware real
• Sin ventaja cuántica: el clásico resuelve N=10 exacto en ≈2,5 s
• X con penalización no supera al azar con ningún λ, p ni CVaR
• Con 5 semillas, las diferencias entre métodos en N=10 están dentro del ruido
• El intercambio cuesta ≈10× más compuertas de 2 qubits</a:t>
            </a:r>
          </a:p>
        </p:txBody>
      </p:sp>
      <p:sp>
        <p:nvSpPr>
          <p:cNvPr id="10" name="Rounded Rectangle 9"/>
          <p:cNvSpPr/>
          <p:nvPr/>
        </p:nvSpPr>
        <p:spPr>
          <a:xfrm>
            <a:off x="6217920" y="1645920"/>
            <a:ext cx="5394960" cy="4389120"/>
          </a:xfrm>
          <a:prstGeom prst="roundRect">
            <a:avLst>
              <a:gd name="adj" fmla="val 8000"/>
            </a:avLst>
          </a:prstGeom>
          <a:solidFill>
            <a:srgbClr val="E6EE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737360"/>
            <a:ext cx="5120640" cy="365760"/>
          </a:xfrm>
          <a:prstGeom prst="rect">
            <a:avLst/>
          </a:prstGeom>
          <a:noFill/>
        </p:spPr>
        <p:txBody>
          <a:bodyPr wrap="square" anchor="t" lIns="45720" rIns="45720">
            <a:spAutoFit/>
          </a:bodyPr>
          <a:lstStyle/>
          <a:p>
            <a:pPr algn="l">
              <a:spcAft>
                <a:spcPts val="600"/>
              </a:spcAft>
            </a:pPr>
            <a:r>
              <a:rPr sz="1500" b="1">
                <a:solidFill>
                  <a:srgbClr val="0F3D4C"/>
                </a:solidFill>
                <a:latin typeface="Calibri"/>
              </a:rPr>
              <a:t>Lectura operativa</a:t>
            </a:r>
          </a:p>
        </p:txBody>
      </p:sp>
      <p:sp>
        <p:nvSpPr>
          <p:cNvPr id="12" name="TextBox 11"/>
          <p:cNvSpPr txBox="1"/>
          <p:nvPr/>
        </p:nvSpPr>
        <p:spPr>
          <a:xfrm>
            <a:off x="6355080" y="2148840"/>
            <a:ext cx="5120640" cy="3794759"/>
          </a:xfrm>
          <a:prstGeom prst="rect">
            <a:avLst/>
          </a:prstGeom>
          <a:noFill/>
        </p:spPr>
        <p:txBody>
          <a:bodyPr wrap="square" anchor="t" lIns="45720" rIns="45720">
            <a:spAutoFit/>
          </a:bodyPr>
          <a:lstStyle/>
          <a:p>
            <a:pPr algn="l">
              <a:spcAft>
                <a:spcPts val="600"/>
              </a:spcAft>
            </a:pPr>
            <a:r>
              <a:rPr sz="1300" b="0">
                <a:solidFill>
                  <a:srgbClr val="1F2A30"/>
                </a:solidFill>
                <a:latin typeface="Calibri"/>
              </a:rPr>
              <a:t>• Para N=10 en operación: usar el resolutor exacto clásico
• Qiskit aporta como banco de pruebas: qué mezclador y qué subproblemas funcionan
• Solución siempre verificada: permutación válida antes de reportar el costo
• Para una aplicación real faltan horarios, compatibilidad de aeronaves, conexiones reales y distancias caminables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6F0"/>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1F8A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320040"/>
          </a:xfrm>
          <a:prstGeom prst="rect">
            <a:avLst/>
          </a:prstGeom>
          <a:noFill/>
        </p:spPr>
        <p:txBody>
          <a:bodyPr wrap="square" anchor="t" lIns="45720" rIns="45720">
            <a:spAutoFit/>
          </a:bodyPr>
          <a:lstStyle/>
          <a:p>
            <a:pPr algn="l">
              <a:spcAft>
                <a:spcPts val="600"/>
              </a:spcAft>
            </a:pPr>
            <a:r>
              <a:rPr sz="1200" b="1">
                <a:solidFill>
                  <a:srgbClr val="1F8A70"/>
                </a:solidFill>
                <a:latin typeface="Calibri"/>
              </a:rPr>
              <a:t>REPRODUCIBILIDAD Y DÍA 2</a:t>
            </a:r>
          </a:p>
        </p:txBody>
      </p:sp>
      <p:sp>
        <p:nvSpPr>
          <p:cNvPr id="4" name="TextBox 3"/>
          <p:cNvSpPr txBox="1"/>
          <p:nvPr/>
        </p:nvSpPr>
        <p:spPr>
          <a:xfrm>
            <a:off x="548640" y="594360"/>
            <a:ext cx="11155680" cy="822960"/>
          </a:xfrm>
          <a:prstGeom prst="rect">
            <a:avLst/>
          </a:prstGeom>
          <a:noFill/>
        </p:spPr>
        <p:txBody>
          <a:bodyPr wrap="square" anchor="t" lIns="45720" rIns="45720">
            <a:spAutoFit/>
          </a:bodyPr>
          <a:lstStyle/>
          <a:p>
            <a:pPr algn="l">
              <a:spcAft>
                <a:spcPts val="600"/>
              </a:spcAft>
            </a:pPr>
            <a:r>
              <a:rPr sz="3000" b="1">
                <a:solidFill>
                  <a:srgbClr val="0F3D4C"/>
                </a:solidFill>
                <a:latin typeface="Calibri"/>
              </a:rPr>
              <a:t>Reproducible hoy; el siguiente paso es N ≥ 14</a:t>
            </a:r>
          </a:p>
        </p:txBody>
      </p:sp>
      <p:sp>
        <p:nvSpPr>
          <p:cNvPr id="5" name="TextBox 4"/>
          <p:cNvSpPr txBox="1"/>
          <p:nvPr/>
        </p:nvSpPr>
        <p:spPr>
          <a:xfrm>
            <a:off x="548640" y="6446520"/>
            <a:ext cx="8229600" cy="274320"/>
          </a:xfrm>
          <a:prstGeom prst="rect">
            <a:avLst/>
          </a:prstGeom>
          <a:noFill/>
        </p:spPr>
        <p:txBody>
          <a:bodyPr wrap="square" anchor="t" lIns="45720" rIns="45720">
            <a:spAutoFit/>
          </a:bodyPr>
          <a:lstStyle/>
          <a:p>
            <a:pPr algn="l">
              <a:spcAft>
                <a:spcPts val="600"/>
              </a:spcAft>
            </a:pPr>
            <a:r>
              <a:rPr sz="1000" b="0">
                <a:solidFill>
                  <a:srgbClr val="5B6870"/>
                </a:solidFill>
                <a:latin typeface="Calibri"/>
              </a:rPr>
              <a:t>Sin-equipo · Qiskit Fall Fest 2026 · Reto NTT DATA · Track A</a:t>
            </a:r>
          </a:p>
        </p:txBody>
      </p:sp>
      <p:sp>
        <p:nvSpPr>
          <p:cNvPr id="6" name="TextBox 5"/>
          <p:cNvSpPr txBox="1"/>
          <p:nvPr/>
        </p:nvSpPr>
        <p:spPr>
          <a:xfrm>
            <a:off x="10881360" y="6446520"/>
            <a:ext cx="822960" cy="274320"/>
          </a:xfrm>
          <a:prstGeom prst="rect">
            <a:avLst/>
          </a:prstGeom>
          <a:noFill/>
        </p:spPr>
        <p:txBody>
          <a:bodyPr wrap="square" anchor="t" lIns="45720" rIns="45720">
            <a:spAutoFit/>
          </a:bodyPr>
          <a:lstStyle/>
          <a:p>
            <a:pPr algn="r">
              <a:spcAft>
                <a:spcPts val="600"/>
              </a:spcAft>
            </a:pPr>
            <a:r>
              <a:rPr sz="1000" b="0">
                <a:solidFill>
                  <a:srgbClr val="5B6870"/>
                </a:solidFill>
                <a:latin typeface="Calibri"/>
              </a:rPr>
              <a:t>9/9</a:t>
            </a:r>
          </a:p>
        </p:txBody>
      </p:sp>
      <p:sp>
        <p:nvSpPr>
          <p:cNvPr id="7" name="Rounded Rectangle 6"/>
          <p:cNvSpPr/>
          <p:nvPr/>
        </p:nvSpPr>
        <p:spPr>
          <a:xfrm>
            <a:off x="548640" y="1645920"/>
            <a:ext cx="5394960" cy="4389120"/>
          </a:xfrm>
          <a:prstGeom prst="roundRect">
            <a:avLst>
              <a:gd name="adj" fmla="val 8000"/>
            </a:avLst>
          </a:prstGeom>
          <a:solidFill>
            <a:srgbClr val="E6EE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737360"/>
            <a:ext cx="5120640" cy="365760"/>
          </a:xfrm>
          <a:prstGeom prst="rect">
            <a:avLst/>
          </a:prstGeom>
          <a:noFill/>
        </p:spPr>
        <p:txBody>
          <a:bodyPr wrap="square" anchor="t" lIns="45720" rIns="45720">
            <a:spAutoFit/>
          </a:bodyPr>
          <a:lstStyle/>
          <a:p>
            <a:pPr algn="l">
              <a:spcAft>
                <a:spcPts val="600"/>
              </a:spcAft>
            </a:pPr>
            <a:r>
              <a:rPr sz="1500" b="1">
                <a:solidFill>
                  <a:srgbClr val="0F3D4C"/>
                </a:solidFill>
                <a:latin typeface="Calibri"/>
              </a:rPr>
              <a:t>Reproducibilidad</a:t>
            </a:r>
          </a:p>
        </p:txBody>
      </p:sp>
      <p:sp>
        <p:nvSpPr>
          <p:cNvPr id="9" name="TextBox 8"/>
          <p:cNvSpPr txBox="1"/>
          <p:nvPr/>
        </p:nvSpPr>
        <p:spPr>
          <a:xfrm>
            <a:off x="685800" y="2148840"/>
            <a:ext cx="5120640" cy="3794759"/>
          </a:xfrm>
          <a:prstGeom prst="rect">
            <a:avLst/>
          </a:prstGeom>
          <a:noFill/>
        </p:spPr>
        <p:txBody>
          <a:bodyPr wrap="square" anchor="t" lIns="45720" rIns="45720">
            <a:spAutoFit/>
          </a:bodyPr>
          <a:lstStyle/>
          <a:p>
            <a:pPr algn="l">
              <a:spcAft>
                <a:spcPts val="600"/>
              </a:spcAft>
            </a:pPr>
            <a:r>
              <a:rPr sz="1300" b="0">
                <a:solidFill>
                  <a:srgbClr val="1F2A30"/>
                </a:solidFill>
                <a:latin typeface="Calibri"/>
              </a:rPr>
              <a:t>• Repositorio público con README y comandos
• Versiones fijadas en requirements.txt (Qiskit 2.6.1, Aer 0.18.0)
• Semillas fijas; trazas completas en results/visual_demo.json
• 35 pruebas automáticas (costos, permutaciones, trazas)
• Todo se regenera con los scripts de la raíz y tools/</a:t>
            </a:r>
          </a:p>
        </p:txBody>
      </p:sp>
      <p:sp>
        <p:nvSpPr>
          <p:cNvPr id="10" name="Rounded Rectangle 9"/>
          <p:cNvSpPr/>
          <p:nvPr/>
        </p:nvSpPr>
        <p:spPr>
          <a:xfrm>
            <a:off x="6217920" y="1645920"/>
            <a:ext cx="5394960" cy="2743200"/>
          </a:xfrm>
          <a:prstGeom prst="roundRect">
            <a:avLst>
              <a:gd name="adj" fmla="val 8000"/>
            </a:avLst>
          </a:prstGeom>
          <a:solidFill>
            <a:srgbClr val="E6EE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737360"/>
            <a:ext cx="5120640" cy="365760"/>
          </a:xfrm>
          <a:prstGeom prst="rect">
            <a:avLst/>
          </a:prstGeom>
          <a:noFill/>
        </p:spPr>
        <p:txBody>
          <a:bodyPr wrap="square" anchor="t" lIns="45720" rIns="45720">
            <a:spAutoFit/>
          </a:bodyPr>
          <a:lstStyle/>
          <a:p>
            <a:pPr algn="l">
              <a:spcAft>
                <a:spcPts val="600"/>
              </a:spcAft>
            </a:pPr>
            <a:r>
              <a:rPr sz="1500" b="1">
                <a:solidFill>
                  <a:srgbClr val="0F3D4C"/>
                </a:solidFill>
                <a:latin typeface="Calibri"/>
              </a:rPr>
              <a:t>Siguientes pasos (N ≥ 14)</a:t>
            </a:r>
          </a:p>
        </p:txBody>
      </p:sp>
      <p:sp>
        <p:nvSpPr>
          <p:cNvPr id="12" name="TextBox 11"/>
          <p:cNvSpPr txBox="1"/>
          <p:nvPr/>
        </p:nvSpPr>
        <p:spPr>
          <a:xfrm>
            <a:off x="6355080" y="2148840"/>
            <a:ext cx="5120640" cy="2148840"/>
          </a:xfrm>
          <a:prstGeom prst="rect">
            <a:avLst/>
          </a:prstGeom>
          <a:noFill/>
        </p:spPr>
        <p:txBody>
          <a:bodyPr wrap="square" anchor="t" lIns="45720" rIns="45720">
            <a:spAutoFit/>
          </a:bodyPr>
          <a:lstStyle/>
          <a:p>
            <a:pPr algn="l">
              <a:spcAft>
                <a:spcPts val="600"/>
              </a:spcAft>
            </a:pPr>
            <a:r>
              <a:rPr sz="1300" b="0">
                <a:solidFill>
                  <a:srgbClr val="1F2A30"/>
                </a:solidFill>
                <a:latin typeface="Calibri"/>
              </a:rPr>
              <a:t>• Vecindarios K=4 (16 qubits)
• Modelo de ruido de un backend
• Comparar con tabu search clásico
• Medir tiempo y memoria en N=14, sin extrapolar</a:t>
            </a:r>
          </a:p>
        </p:txBody>
      </p:sp>
      <p:sp>
        <p:nvSpPr>
          <p:cNvPr id="13" name="TextBox 12"/>
          <p:cNvSpPr txBox="1"/>
          <p:nvPr/>
        </p:nvSpPr>
        <p:spPr>
          <a:xfrm>
            <a:off x="6217920" y="4663440"/>
            <a:ext cx="5394960" cy="365760"/>
          </a:xfrm>
          <a:prstGeom prst="rect">
            <a:avLst/>
          </a:prstGeom>
          <a:noFill/>
        </p:spPr>
        <p:txBody>
          <a:bodyPr wrap="square" anchor="t" lIns="45720" rIns="45720">
            <a:spAutoFit/>
          </a:bodyPr>
          <a:lstStyle/>
          <a:p>
            <a:pPr algn="l">
              <a:spcAft>
                <a:spcPts val="600"/>
              </a:spcAft>
            </a:pPr>
            <a:r>
              <a:rPr sz="1400" b="1">
                <a:solidFill>
                  <a:srgbClr val="0F3D4C"/>
                </a:solidFill>
                <a:latin typeface="Calibri"/>
              </a:rPr>
              <a:t>Repositorio</a:t>
            </a:r>
          </a:p>
        </p:txBody>
      </p:sp>
      <p:sp>
        <p:nvSpPr>
          <p:cNvPr id="14" name="TextBox 13"/>
          <p:cNvSpPr txBox="1"/>
          <p:nvPr/>
        </p:nvSpPr>
        <p:spPr>
          <a:xfrm>
            <a:off x="6217920" y="5029200"/>
            <a:ext cx="5394960" cy="365760"/>
          </a:xfrm>
          <a:prstGeom prst="rect">
            <a:avLst/>
          </a:prstGeom>
          <a:noFill/>
        </p:spPr>
        <p:txBody>
          <a:bodyPr wrap="square" anchor="t" lIns="45720" rIns="45720">
            <a:spAutoFit/>
          </a:bodyPr>
          <a:lstStyle/>
          <a:p>
            <a:pPr algn="l">
              <a:spcAft>
                <a:spcPts val="600"/>
              </a:spcAft>
            </a:pPr>
            <a:r>
              <a:rPr sz="1600" b="0">
                <a:solidFill>
                  <a:srgbClr val="1F2A30"/>
                </a:solidFill>
                <a:latin typeface="Calibri"/>
              </a:rPr>
              <a:t>github.com/Sin-equipo/qap10-quantum-gates</a:t>
            </a:r>
          </a:p>
        </p:txBody>
      </p:sp>
      <p:sp>
        <p:nvSpPr>
          <p:cNvPr id="15" name="TextBox 14"/>
          <p:cNvSpPr txBox="1"/>
          <p:nvPr/>
        </p:nvSpPr>
        <p:spPr>
          <a:xfrm>
            <a:off x="6217920" y="5440680"/>
            <a:ext cx="5394960" cy="365760"/>
          </a:xfrm>
          <a:prstGeom prst="rect">
            <a:avLst/>
          </a:prstGeom>
          <a:noFill/>
        </p:spPr>
        <p:txBody>
          <a:bodyPr wrap="square" anchor="t" lIns="45720" rIns="45720">
            <a:spAutoFit/>
          </a:bodyPr>
          <a:lstStyle/>
          <a:p>
            <a:pPr algn="l">
              <a:spcAft>
                <a:spcPts val="600"/>
              </a:spcAft>
            </a:pPr>
            <a:r>
              <a:rPr sz="1600" b="0">
                <a:solidFill>
                  <a:srgbClr val="1F2A30"/>
                </a:solidFill>
                <a:latin typeface="Calibri"/>
              </a:rPr>
              <a:t>Demo: [PEGAR LINK DE STREAMLIT]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